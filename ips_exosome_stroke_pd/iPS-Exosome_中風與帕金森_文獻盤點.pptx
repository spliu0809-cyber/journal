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185c27f2-a532-1f2a-5f4d-eaea3685edeb}">
          <p14:sldIdLst>
            <p14:sldId id="256"/>
          </p14:sldIdLst>
        </p14:section>
        <p14:section name="執行摘要" id="{4b344038-7a6d-e896-2a69-35afbffd59ac}">
          <p14:sldIdLst>
            <p14:sldId id="257"/>
            <p14:sldId id="258"/>
          </p14:sldIdLst>
        </p14:section>
        <p14:section name="中風" id="{3869ad5f-36f1-7691-be9d-f100140faa19}">
          <p14:sldIdLst>
            <p14:sldId id="259"/>
            <p14:sldId id="260"/>
            <p14:sldId id="261"/>
            <p14:sldId id="262"/>
          </p14:sldIdLst>
        </p14:section>
        <p14:section name="帕金森氏症" id="{f66e58a8-937c-d6f5-8bf6-21a5f9baa84a}">
          <p14:sldIdLst>
            <p14:sldId id="263"/>
            <p14:sldId id="264"/>
            <p14:sldId id="265"/>
          </p14:sldIdLst>
        </p14:section>
        <p14:section name="綜合比較" id="{d61fe8f7-be7e-30d0-52e5-9aa320d1610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3D"/>
                </a:solidFill>
                <a:latin typeface="+mn-lt"/>
              </a:rPr>
              <a:t>依證據型態的文獻筆數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中風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A63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同儕審查活體研究</c:v>
                  </c:pt>
                  <c:pt idx="1">
                    <c:v>活體外研究</c:v>
                  </c:pt>
                  <c:pt idx="2">
                    <c:v>人體試驗／註冊</c:v>
                  </c:pt>
                  <c:pt idx="3">
                    <c:v>預印本／會議摘要</c:v>
                  </c:pt>
                  <c:pt idx="4">
                    <c:v>高度相關旁證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帕金森氏症</c:v>
                </c:pt>
              </c:strCache>
            </c:strRef>
          </c:tx>
          <c:spPr>
            <a:solidFill>
              <a:srgbClr val="F2A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A63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同儕審查活體研究</c:v>
                  </c:pt>
                  <c:pt idx="1">
                    <c:v>活體外研究</c:v>
                  </c:pt>
                  <c:pt idx="2">
                    <c:v>人體試驗／註冊</c:v>
                  </c:pt>
                  <c:pt idx="3">
                    <c:v>預印本／會議摘要</c:v>
                  </c:pt>
                  <c:pt idx="4">
                    <c:v>高度相關旁證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4A63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9525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4A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本次環境無法直連 PubMed E-utilities（組織網路政策封鎖 NCBI／EuropePMC／OpenAlex），改以網路檢索逐篇核對 PubMed/PMC 書目資料。標註「摘要層級」者僅取得摘要資訊。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一句話結論：中風方向可直接談臨床轉譯，帕金森方向目前是研究機會而非既有證據。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若需補齊全文層級的效應量（梗塞體積百分比、行為學分數），建議在可連 PubMed 的環境重跑檢索並抓取全文。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與 S2 是兩篇機制最完整的研究，都指向血管新生。S3／S4 來自同一研究團隊（孫華、張建民），為電針併用設計。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是目前唯一同儕審查、且明確比較 iPSC 外泌體與其他來源的 PD 研究，但僅止於 SH-SY5Y 細胞層級。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筆數依本次盤點之納入標準計算；旁證包含非 iPSC 來源與非腦部缺血研究。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20240"/>
            <a:ext cx="85039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8D99AE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6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8D99AE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</a:t>
            </a: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iPS-Exosome 文獻盤點｜檢索日 2026-10-14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3444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iPS-Exosome 文獻盤點｜檢索日 2026-10-14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548640" y="1280160"/>
            <a:ext cx="685800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80960" y="1280160"/>
            <a:ext cx="39319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iPS-Exosome 文獻盤點｜檢索日 2026-10-14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6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 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sicle-0"/>
          <p:cNvSpPr/>
          <p:nvPr/>
        </p:nvSpPr>
        <p:spPr>
          <a:xfrm>
            <a:off x="10012680" y="1371600"/>
            <a:ext cx="1371600" cy="1371600"/>
          </a:xfrm>
          <a:prstGeom prst="ellipse">
            <a:avLst/>
          </a:prstGeom>
          <a:solidFill>
            <a:srgbClr val="00A896">
              <a:alpha val="75000"/>
            </a:srgbClr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" name="vesicle-1"/>
          <p:cNvSpPr/>
          <p:nvPr/>
        </p:nvSpPr>
        <p:spPr>
          <a:xfrm>
            <a:off x="11201400" y="2514600"/>
            <a:ext cx="777240" cy="777240"/>
          </a:xfrm>
          <a:prstGeom prst="ellipse">
            <a:avLst/>
          </a:prstGeom>
          <a:solidFill>
            <a:srgbClr val="F2A14B">
              <a:alpha val="75000"/>
            </a:srgbClr>
          </a:solidFill>
          <a:ln w="15875">
            <a:solidFill>
              <a:srgbClr val="F2A14B"/>
            </a:solidFill>
            <a:prstDash val="solid"/>
          </a:ln>
        </p:spPr>
      </p:sp>
      <p:sp>
        <p:nvSpPr>
          <p:cNvPr id="4" name="vesicle-2"/>
          <p:cNvSpPr/>
          <p:nvPr/>
        </p:nvSpPr>
        <p:spPr>
          <a:xfrm>
            <a:off x="9464040" y="2880360"/>
            <a:ext cx="960120" cy="960120"/>
          </a:xfrm>
          <a:prstGeom prst="ellipse">
            <a:avLst/>
          </a:prstGeom>
          <a:solidFill>
            <a:srgbClr val="6C5CE7">
              <a:alpha val="75000"/>
            </a:srgbClr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5" name="vesicle-3"/>
          <p:cNvSpPr/>
          <p:nvPr/>
        </p:nvSpPr>
        <p:spPr>
          <a:xfrm>
            <a:off x="10744200" y="3931920"/>
            <a:ext cx="1143000" cy="1143000"/>
          </a:xfrm>
          <a:prstGeom prst="ellipse">
            <a:avLst/>
          </a:prstGeom>
          <a:solidFill>
            <a:srgbClr val="00A896">
              <a:alpha val="75000"/>
            </a:srgbClr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6" name="vesicle-4"/>
          <p:cNvSpPr/>
          <p:nvPr/>
        </p:nvSpPr>
        <p:spPr>
          <a:xfrm>
            <a:off x="9235440" y="4663440"/>
            <a:ext cx="640080" cy="640080"/>
          </a:xfrm>
          <a:prstGeom prst="ellipse">
            <a:avLst/>
          </a:prstGeom>
          <a:solidFill>
            <a:srgbClr val="2E86AB">
              <a:alpha val="75000"/>
            </a:srgbClr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7" name="vesicle-5"/>
          <p:cNvSpPr/>
          <p:nvPr/>
        </p:nvSpPr>
        <p:spPr>
          <a:xfrm>
            <a:off x="11338560" y="5074920"/>
            <a:ext cx="868680" cy="868680"/>
          </a:xfrm>
          <a:prstGeom prst="ellipse">
            <a:avLst/>
          </a:prstGeom>
          <a:solidFill>
            <a:srgbClr val="F2A14B">
              <a:alpha val="75000"/>
            </a:srgbClr>
          </a:solidFill>
          <a:ln w="15875">
            <a:solidFill>
              <a:srgbClr val="F2A1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896"/>
                </a:solidFill>
              </a:rPr>
              <a:t>PubMed 文獻盤點</a:t>
            </a:r>
            <a:endParaRPr lang="en-US" sz="15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822960" y="192024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iPS-Exosome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治療中風與帕金森氏症</a:t>
            </a:r>
            <a:endParaRPr lang="en-US" sz="36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82296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逐篇文獻整理、機制歸納與證據缺口分析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</a:rPr>
              <a:t>檢索日：2026-10-14　｜　中風 6 筆核心 + 3 筆旁證　｜　帕金森 3 筆核心 + 4 筆旁證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兩個疾病方向的證據成熟度差距極大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548640" y="12344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896"/>
                </a:solidFill>
              </a:rPr>
              <a:t>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中風：同儕審查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活體前臨床研究</a:t>
            </a:r>
            <a:endParaRPr lang="en-US" sz="1200" dirty="0"/>
          </a:p>
        </p:txBody>
      </p:sp>
      <p:sp>
        <p:nvSpPr>
          <p:cNvPr id="6" name="stat-1"/>
          <p:cNvSpPr/>
          <p:nvPr/>
        </p:nvSpPr>
        <p:spPr>
          <a:xfrm>
            <a:off x="3383280" y="12344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86AB"/>
                </a:solidFill>
              </a:rPr>
              <a:t>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中風：人體臨床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試驗／註冊案</a:t>
            </a:r>
            <a:endParaRPr lang="en-US" sz="1200" dirty="0"/>
          </a:p>
        </p:txBody>
      </p:sp>
      <p:sp>
        <p:nvSpPr>
          <p:cNvPr id="9" name="stat-2"/>
          <p:cNvSpPr/>
          <p:nvPr/>
        </p:nvSpPr>
        <p:spPr>
          <a:xfrm>
            <a:off x="6217920" y="12344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A14B"/>
                </a:solidFill>
              </a:rPr>
              <a:t>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帕金森：同儕審查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研究（僅活體外）</a:t>
            </a:r>
            <a:endParaRPr lang="en-US" sz="1200" dirty="0"/>
          </a:p>
        </p:txBody>
      </p:sp>
      <p:sp>
        <p:nvSpPr>
          <p:cNvPr id="12" name="stat-3"/>
          <p:cNvSpPr/>
          <p:nvPr/>
        </p:nvSpPr>
        <p:spPr>
          <a:xfrm>
            <a:off x="9052560" y="12344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325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4B5A"/>
                </a:solidFill>
              </a:rPr>
              <a:t>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帕金森：同儕審查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活體療效研究</a:t>
            </a:r>
            <a:endParaRPr lang="en-US" sz="1200" dirty="0"/>
          </a:p>
        </p:txBody>
      </p:sp>
      <p:sp>
        <p:nvSpPr>
          <p:cNvPr id="15" name="disc-1"/>
          <p:cNvSpPr/>
          <p:nvPr/>
        </p:nvSpPr>
        <p:spPr>
          <a:xfrm>
            <a:off x="548640" y="331012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D"/>
                </a:solidFill>
              </a:rPr>
              <a:t>中風端已完成轉譯接續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25526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大鼠／小鼠 MCAO 模型療效一致，並已進入人體安全性試驗（ESOC 2026 摘要、NCT07145294 招募中）。</a:t>
            </a:r>
            <a:endParaRPr lang="en-US" sz="1200" dirty="0"/>
          </a:p>
        </p:txBody>
      </p:sp>
      <p:sp>
        <p:nvSpPr>
          <p:cNvPr id="19" name="disc-2"/>
          <p:cNvSpPr/>
          <p:nvPr/>
        </p:nvSpPr>
        <p:spPr>
          <a:xfrm>
            <a:off x="548640" y="407822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D"/>
                </a:solidFill>
              </a:rPr>
              <a:t>主力來源是 iMSC 而非 iPSC 本體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02336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兩篇機制最強的中風研究皆使用 iPSC→MSC（iMSC）衍生 sEV，共同終點收斂於血管新生。</a:t>
            </a:r>
            <a:endParaRPr lang="en-US" sz="1200" dirty="0"/>
          </a:p>
        </p:txBody>
      </p:sp>
      <p:sp>
        <p:nvSpPr>
          <p:cNvPr id="23" name="disc-3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809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D"/>
                </a:solidFill>
              </a:rPr>
              <a:t>免疫與腦腸軸為第二機制主線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791456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Treg／Th17 調節與腸道菌相調節，但兩篇皆為電針併用設計，iPSC-sEV 單獨貢獻未被切分。</a:t>
            </a:r>
            <a:endParaRPr lang="en-US" sz="1200" dirty="0"/>
          </a:p>
        </p:txBody>
      </p:sp>
      <p:sp>
        <p:nvSpPr>
          <p:cNvPr id="27" name="disc-4"/>
          <p:cNvSpPr/>
          <p:nvPr/>
        </p:nvSpPr>
        <p:spPr>
          <a:xfrm>
            <a:off x="548640" y="5614416"/>
            <a:ext cx="402336" cy="402336"/>
          </a:xfrm>
          <a:prstGeom prst="ellipse">
            <a:avLst/>
          </a:prstGeom>
          <a:solidFill>
            <a:srgbClr val="C84B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614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D"/>
                </a:solidFill>
              </a:rPr>
              <a:t>帕金森是明確空白區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555955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尚無已同儕審查、以純化 iPSC 外泌體在 MPTP／6-OHDA／A53T 活體模型證實療效的論文。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檢索策略與納入／排除原則</a:t>
            </a:r>
            <a:endParaRPr lang="en-US" sz="2800" dirty="0"/>
          </a:p>
        </p:txBody>
      </p:sp>
      <p:sp>
        <p:nvSpPr>
          <p:cNvPr id="3" name="col-0"/>
          <p:cNvSpPr/>
          <p:nvPr/>
        </p:nvSpPr>
        <p:spPr>
          <a:xfrm>
            <a:off x="54864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4" name="disc-1"/>
          <p:cNvSpPr/>
          <p:nvPr/>
        </p:nvSpPr>
        <p:spPr>
          <a:xfrm>
            <a:off x="731520" y="138988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檢索範圍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PubMed／PMC 索引書目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ClinicalTrials.gov 註冊試驗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ESOC 2026 會議摘要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bioRxiv 預印本（標註）</a:t>
            </a:r>
            <a:endParaRPr lang="en-US" sz="1200" dirty="0"/>
          </a:p>
        </p:txBody>
      </p:sp>
      <p:sp>
        <p:nvSpPr>
          <p:cNvPr id="8" name="col-1"/>
          <p:cNvSpPr/>
          <p:nvPr/>
        </p:nvSpPr>
        <p:spPr>
          <a:xfrm>
            <a:off x="338328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9" name="disc-2"/>
          <p:cNvSpPr/>
          <p:nvPr/>
        </p:nvSpPr>
        <p:spPr>
          <a:xfrm>
            <a:off x="3566160" y="1389888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</a:rPr>
              <a:t>關鍵詞組合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iPSC / induced pluripotent stem cell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exosome / small extracellular vesicle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stroke / MCAO / cerebral ischemia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Parkinson / MPTP / 6-OHDA / α-synuclein</a:t>
            </a:r>
            <a:endParaRPr lang="en-US" sz="1200" dirty="0"/>
          </a:p>
        </p:txBody>
      </p:sp>
      <p:sp>
        <p:nvSpPr>
          <p:cNvPr id="13" name="col-2"/>
          <p:cNvSpPr/>
          <p:nvPr/>
        </p:nvSpPr>
        <p:spPr>
          <a:xfrm>
            <a:off x="621792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4" name="disc-3"/>
          <p:cNvSpPr/>
          <p:nvPr/>
        </p:nvSpPr>
        <p:spPr>
          <a:xfrm>
            <a:off x="6400800" y="1389888"/>
            <a:ext cx="402336" cy="4023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31152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</a:rPr>
              <a:t>納入條件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外泌體／sEV 來源為 iPSC 或 iPSC 衍生細胞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以治療為目的（非僅生物標記）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具疾病模型或人體受試者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可取得書目與摘要層級結果</a:t>
            </a:r>
            <a:endParaRPr lang="en-US" sz="1200" dirty="0"/>
          </a:p>
        </p:txBody>
      </p:sp>
      <p:sp>
        <p:nvSpPr>
          <p:cNvPr id="18" name="col-3"/>
          <p:cNvSpPr/>
          <p:nvPr/>
        </p:nvSpPr>
        <p:spPr>
          <a:xfrm>
            <a:off x="905256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9" name="disc-4"/>
          <p:cNvSpPr/>
          <p:nvPr/>
        </p:nvSpPr>
        <p:spPr>
          <a:xfrm>
            <a:off x="9235440" y="1389888"/>
            <a:ext cx="402336" cy="402336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765792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99AE"/>
                </a:solidFill>
              </a:rPr>
              <a:t>列為旁證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非 iPSC 來源（BM-MSC、UC-MSC、F3 NSC）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非腦部缺血（如缺血肢體）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致病機制方向而非治療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A63"/>
                </a:solidFill>
              </a:rPr>
              <a:t>回顧文獻與統合分析</a:t>
            </a:r>
            <a:endParaRPr lang="en-US" sz="1200" dirty="0"/>
          </a:p>
        </p:txBody>
      </p:sp>
      <p:sp>
        <p:nvSpPr>
          <p:cNvPr id="23" name="limit-note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635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5A"/>
                </a:solidFill>
              </a:rPr>
              <a:t>執行限制：</a:t>
            </a:r>
            <a:pPr indent="0" marL="0">
              <a:buNone/>
            </a:pPr>
            <a:r>
              <a:rPr lang="en-US" sz="1300" dirty="0">
                <a:solidFill>
                  <a:srgbClr val="3A4A63"/>
                </a:solidFill>
              </a:rPr>
              <a:t>本環境之組織網路政策封鎖 NCBI E-utilities／EuropePMC／OpenAlex 直連，書目資料以網路檢索逐篇核對；標註「摘要層級」者未取得全文統計數據。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-01"/>
          <p:cNvSpPr/>
          <p:nvPr/>
        </p:nvSpPr>
        <p:spPr>
          <a:xfrm>
            <a:off x="914400" y="16002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缺血性腦中風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</a:rPr>
              <a:t>4 篇同儕審查前臨床研究、2 筆人體試驗、3 筆高度相關旁證</a:t>
            </a:r>
            <a:endParaRPr lang="en-US" sz="1500" dirty="0"/>
          </a:p>
        </p:txBody>
      </p:sp>
      <p:sp>
        <p:nvSpPr>
          <p:cNvPr id="6" name="div1-vesicle-0"/>
          <p:cNvSpPr/>
          <p:nvPr/>
        </p:nvSpPr>
        <p:spPr>
          <a:xfrm>
            <a:off x="10058400" y="1828800"/>
            <a:ext cx="1463040" cy="1463040"/>
          </a:xfrm>
          <a:prstGeom prst="ellipse">
            <a:avLst/>
          </a:prstGeom>
          <a:solidFill>
            <a:srgbClr val="00A896">
              <a:alpha val="70000"/>
            </a:srgbClr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7" name="div1-vesicle-1"/>
          <p:cNvSpPr/>
          <p:nvPr/>
        </p:nvSpPr>
        <p:spPr>
          <a:xfrm>
            <a:off x="11155680" y="3291840"/>
            <a:ext cx="822960" cy="822960"/>
          </a:xfrm>
          <a:prstGeom prst="ellipse">
            <a:avLst/>
          </a:prstGeom>
          <a:solidFill>
            <a:srgbClr val="00A896">
              <a:alpha val="70000"/>
            </a:srgbClr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" name="div1-vesicle-2"/>
          <p:cNvSpPr/>
          <p:nvPr/>
        </p:nvSpPr>
        <p:spPr>
          <a:xfrm>
            <a:off x="9692640" y="4023360"/>
            <a:ext cx="1097280" cy="1097280"/>
          </a:xfrm>
          <a:prstGeom prst="ellipse">
            <a:avLst/>
          </a:prstGeom>
          <a:solidFill>
            <a:srgbClr val="00A896">
              <a:alpha val="70000"/>
            </a:srgbClr>
          </a:solidFill>
          <a:ln w="15875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中風：逐篇前臨床研究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75488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371600"/>
                <a:gridCol w="1645920"/>
                <a:gridCol w="265176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文獻／期刊・年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外泌體來源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主要結果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機制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Xia Y, et al.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Stem Cell Res Ther 2020;11:313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PMC7374834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hiPSC→MSC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（iMSC）small EV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大鼠 MCAO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＋ 內皮細胞活體外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梗塞體積顯著縮小、血管新生增加、長期神經功能缺損改善；內皮細胞遷移與管腔形成增強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活化 STAT3 → 抑制中風誘發自噬（LC3-II/I、Beclin-1、P62）；STAT3 抑制劑 stattic 可部分逆轉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</a:rPr>
                        <a:t>S2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Lu G, Su X, … Chan WY.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Biomedicines 2023;11(9):2550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PMC10525838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hiPS-MSC-EV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（超過濾分離）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小鼠 MCAO，靜脈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100 µg × 3 時間點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＋ HT22 OGD/R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梗塞體積縮小、自發活動能力改善；活體外促進 HT22 增生、降低凋亡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梗塞側腦組織 VEGF、CXCR4 表現上升 → 血管新生與神經修復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Deng P, et al.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Cells 2022;11(5):820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（2024 Correction）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人類 iPSC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small EV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小鼠 MCAO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電針（EA）併用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神經學評分改善、梗塞範圍縮小、神經元凋亡降低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抑制 Th1／Th17、促進 Treg；抑制微膠細胞與星狀細胞活化；涉及 IL-33/ST2 軸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</a:rPr>
                        <a:t>S4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Zhang Q, et al.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Front Immunol 2023;14:1107559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PMC9895941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人類 iPSC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small EV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小鼠 MCAO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電針（EA）併用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神經功能顯著改善、腦與腸道損傷同步減輕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經腦—腸軸調節腸道菌相組成，連動腦／結腸發炎指標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中風療效的三條機制主線</a:t>
            </a:r>
            <a:endParaRPr lang="en-US" sz="2800" dirty="0"/>
          </a:p>
        </p:txBody>
      </p:sp>
      <p:sp>
        <p:nvSpPr>
          <p:cNvPr id="3" name="mech-0"/>
          <p:cNvSpPr/>
          <p:nvPr/>
        </p:nvSpPr>
        <p:spPr>
          <a:xfrm>
            <a:off x="548640" y="11887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4" name="disc-1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血管新生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</a:rPr>
              <a:t>S1 · S2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48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STAT3 活化 → 自噬抑制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VEGF ／ CXCR4 表現上升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內皮細胞遷移與管腔形成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終點：梗塞體積縮小</a:t>
            </a:r>
            <a:endParaRPr lang="en-US" sz="1250" dirty="0"/>
          </a:p>
        </p:txBody>
      </p:sp>
      <p:sp>
        <p:nvSpPr>
          <p:cNvPr id="9" name="arrow-0"/>
          <p:cNvSpPr/>
          <p:nvPr/>
        </p:nvSpPr>
        <p:spPr>
          <a:xfrm>
            <a:off x="4142232" y="2377440"/>
            <a:ext cx="256032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mech-1"/>
          <p:cNvSpPr/>
          <p:nvPr/>
        </p:nvSpPr>
        <p:spPr>
          <a:xfrm>
            <a:off x="4343400" y="11887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1" name="disc-2"/>
          <p:cNvSpPr/>
          <p:nvPr/>
        </p:nvSpPr>
        <p:spPr>
          <a:xfrm>
            <a:off x="4572000" y="141732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</a:rPr>
              <a:t>免疫調節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</a:rPr>
              <a:t>S3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148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Th1 ／ Th17 反應抑制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調節型 T 細胞（Treg）增加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微膠細胞／星狀細胞活化下降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IL-33 ／ ST2 軸參與</a:t>
            </a:r>
            <a:endParaRPr lang="en-US" sz="1250" dirty="0"/>
          </a:p>
        </p:txBody>
      </p:sp>
      <p:sp>
        <p:nvSpPr>
          <p:cNvPr id="16" name="arrow-1"/>
          <p:cNvSpPr/>
          <p:nvPr/>
        </p:nvSpPr>
        <p:spPr>
          <a:xfrm>
            <a:off x="7936992" y="2377440"/>
            <a:ext cx="256032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7" name="mech-2"/>
          <p:cNvSpPr/>
          <p:nvPr/>
        </p:nvSpPr>
        <p:spPr>
          <a:xfrm>
            <a:off x="8138160" y="11887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8" name="disc-3"/>
          <p:cNvSpPr/>
          <p:nvPr/>
        </p:nvSpPr>
        <p:spPr>
          <a:xfrm>
            <a:off x="8366760" y="1417320"/>
            <a:ext cx="457200" cy="457200"/>
          </a:xfrm>
          <a:prstGeom prst="ellipse">
            <a:avLst/>
          </a:prstGeom>
          <a:solidFill>
            <a:srgbClr val="F2A1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14B"/>
                </a:solidFill>
              </a:rPr>
              <a:t>腦—腸軸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</a:rPr>
              <a:t>S4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2148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腸道菌相組成改變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腦與結腸發炎指標連動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腸道損傷同步減輕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A63"/>
                </a:solidFill>
              </a:rPr>
              <a:t>機制細節仍待釐清</a:t>
            </a:r>
            <a:endParaRPr lang="en-US" sz="1250" dirty="0"/>
          </a:p>
        </p:txBody>
      </p:sp>
      <p:sp>
        <p:nvSpPr>
          <p:cNvPr id="23" name="mech-takeaway"/>
          <p:cNvSpPr/>
          <p:nvPr/>
        </p:nvSpPr>
        <p:spPr>
          <a:xfrm>
            <a:off x="548640" y="42062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7F6F3"/>
          </a:solidFill>
          <a:ln w="6350">
            <a:solidFill>
              <a:srgbClr val="E7F6F3"/>
            </a:solidFill>
            <a:prstDash val="solid"/>
          </a:ln>
        </p:spPr>
      </p:sp>
      <p:sp>
        <p:nvSpPr>
          <p:cNvPr id="24" name="disc-★"/>
          <p:cNvSpPr/>
          <p:nvPr/>
        </p:nvSpPr>
        <p:spPr>
          <a:xfrm>
            <a:off x="868680" y="4526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498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D"/>
                </a:solidFill>
              </a:rPr>
              <a:t>方法學限制必須明講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892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63"/>
                </a:solidFill>
              </a:rPr>
              <a:t>S3／S4 皆為「電針 ＋ iPSC-sEV」併用設計，未設 iPSC-sEV 單獨治療組，因此免疫與腦腸軸這兩條機制中 sEV 的獨立貢獻尚未被切分；血管新生這條線則有 S1／S2 兩個獨立團隊、兩種物種（大鼠、小鼠）支持，可信度最高。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中風：已進入人體階段</a:t>
            </a:r>
            <a:endParaRPr lang="en-US" sz="2800" dirty="0"/>
          </a:p>
        </p:txBody>
      </p:sp>
      <p:sp>
        <p:nvSpPr>
          <p:cNvPr id="3" name="trial-0"/>
          <p:cNvSpPr/>
          <p:nvPr/>
        </p:nvSpPr>
        <p:spPr>
          <a:xfrm>
            <a:off x="548640" y="128016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4" name="disc-S5"/>
          <p:cNvSpPr/>
          <p:nvPr/>
        </p:nvSpPr>
        <p:spPr>
          <a:xfrm>
            <a:off x="804672" y="15087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</a:rPr>
              <a:t>ESOC 2026 Abstract OT115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類型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同種異體 hiPSC-exosome 臨床安全性／有效性試驗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151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收案條件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615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皮質型缺血性中風、基礎 NIHSS 6–20、發病 1–7 天內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27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主要終點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127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90 天內嚴重不良事件（SAE）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39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現況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639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摘要層級，尚無結果數據（PMC13144839）</a:t>
            </a:r>
            <a:endParaRPr lang="en-US" sz="1150" dirty="0"/>
          </a:p>
        </p:txBody>
      </p:sp>
      <p:sp>
        <p:nvSpPr>
          <p:cNvPr id="15" name="trial-1"/>
          <p:cNvSpPr/>
          <p:nvPr/>
        </p:nvSpPr>
        <p:spPr>
          <a:xfrm>
            <a:off x="6309360" y="128016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16" name="disc-S6"/>
          <p:cNvSpPr/>
          <p:nvPr/>
        </p:nvSpPr>
        <p:spPr>
          <a:xfrm>
            <a:off x="6565392" y="150876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653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5CE7"/>
                </a:solidFill>
              </a:rPr>
              <a:t>NCT07145294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類型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hiPSC 衍生 small EV 治療急性缺血性中風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6151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主辦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615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上海市第六人民醫院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127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評估重點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127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神經功能促進與認知功能障礙改善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639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現況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639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招募中（2025-08 最後確認）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D"/>
                </a:solidFill>
              </a:rPr>
              <a:t>高度相關旁證（非腦部 iPSC 外泌體本體，但支撐同一技術路線）</a:t>
            </a:r>
            <a:endParaRPr lang="en-US" sz="1500" dirty="0"/>
          </a:p>
        </p:txBody>
      </p:sp>
      <p:sp>
        <p:nvSpPr>
          <p:cNvPr id="28" name="disc-S7"/>
          <p:cNvSpPr/>
          <p:nvPr/>
        </p:nvSpPr>
        <p:spPr>
          <a:xfrm>
            <a:off x="548640" y="4956048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4937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iPSC→內皮細胞外泌體促進缺血肢體血管新生（PMC6329927）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9377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部位為肢體而非腦，但直接支持血管新生機制</a:t>
            </a:r>
            <a:endParaRPr lang="en-US" sz="1150" dirty="0"/>
          </a:p>
        </p:txBody>
      </p:sp>
      <p:sp>
        <p:nvSpPr>
          <p:cNvPr id="32" name="disc-S8"/>
          <p:cNvSpPr/>
          <p:nvPr/>
        </p:nvSpPr>
        <p:spPr>
          <a:xfrm>
            <a:off x="548640" y="5413248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5394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誘導型 NSC／NPC 外泌體促進中風後恢復（PMC9217134）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5394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小鼠 MCAO 感覺動作恢復與 NPC-EV 相當</a:t>
            </a:r>
            <a:endParaRPr lang="en-US" sz="1150" dirty="0"/>
          </a:p>
        </p:txBody>
      </p:sp>
      <p:sp>
        <p:nvSpPr>
          <p:cNvPr id="36" name="disc-S9"/>
          <p:cNvSpPr/>
          <p:nvPr/>
        </p:nvSpPr>
        <p:spPr>
          <a:xfrm>
            <a:off x="548640" y="5870448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870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S9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" y="5852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D"/>
                </a:solidFill>
              </a:rPr>
              <a:t>幹細胞外泌體治療中風之網絡統合分析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58521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動物模型中 iPSC 外泌體顯著降低梗塞體積與神經缺損評分；靜脈給藥為最佳途徑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-02"/>
          <p:cNvSpPr/>
          <p:nvPr/>
        </p:nvSpPr>
        <p:spPr>
          <a:xfrm>
            <a:off x="914400" y="1600200"/>
            <a:ext cx="685800" cy="685800"/>
          </a:xfrm>
          <a:prstGeom prst="ellipse">
            <a:avLst/>
          </a:prstGeom>
          <a:solidFill>
            <a:srgbClr val="F2A1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帕金森氏症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</a:rPr>
              <a:t>3 筆核心文獻：1 篇活體外對比、1 篇預印本、1 篇會議摘要</a:t>
            </a:r>
            <a:endParaRPr lang="en-US" sz="1500" dirty="0"/>
          </a:p>
        </p:txBody>
      </p:sp>
      <p:sp>
        <p:nvSpPr>
          <p:cNvPr id="6" name="div2-vesicle-0"/>
          <p:cNvSpPr/>
          <p:nvPr/>
        </p:nvSpPr>
        <p:spPr>
          <a:xfrm>
            <a:off x="10058400" y="1828800"/>
            <a:ext cx="1463040" cy="1463040"/>
          </a:xfrm>
          <a:prstGeom prst="ellipse">
            <a:avLst/>
          </a:prstGeom>
          <a:solidFill>
            <a:srgbClr val="F2A14B">
              <a:alpha val="70000"/>
            </a:srgbClr>
          </a:solidFill>
          <a:ln w="15875">
            <a:solidFill>
              <a:srgbClr val="F2A14B"/>
            </a:solidFill>
            <a:prstDash val="solid"/>
          </a:ln>
        </p:spPr>
      </p:sp>
      <p:sp>
        <p:nvSpPr>
          <p:cNvPr id="7" name="div2-vesicle-1"/>
          <p:cNvSpPr/>
          <p:nvPr/>
        </p:nvSpPr>
        <p:spPr>
          <a:xfrm>
            <a:off x="11155680" y="3291840"/>
            <a:ext cx="822960" cy="822960"/>
          </a:xfrm>
          <a:prstGeom prst="ellipse">
            <a:avLst/>
          </a:prstGeom>
          <a:solidFill>
            <a:srgbClr val="F2A14B">
              <a:alpha val="70000"/>
            </a:srgbClr>
          </a:solidFill>
          <a:ln w="15875">
            <a:solidFill>
              <a:srgbClr val="F2A14B"/>
            </a:solidFill>
            <a:prstDash val="solid"/>
          </a:ln>
        </p:spPr>
      </p:sp>
      <p:sp>
        <p:nvSpPr>
          <p:cNvPr id="8" name="div2-vesicle-2"/>
          <p:cNvSpPr/>
          <p:nvPr/>
        </p:nvSpPr>
        <p:spPr>
          <a:xfrm>
            <a:off x="9692640" y="4023360"/>
            <a:ext cx="1097280" cy="1097280"/>
          </a:xfrm>
          <a:prstGeom prst="ellipse">
            <a:avLst/>
          </a:prstGeom>
          <a:solidFill>
            <a:srgbClr val="F2A14B">
              <a:alpha val="70000"/>
            </a:srgbClr>
          </a:solidFill>
          <a:ln w="15875">
            <a:solidFill>
              <a:srgbClr val="F2A14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帕金森氏症：逐篇文獻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754880"/>
        </p:xfrm>
        <a:graphic>
          <a:graphicData uri="http://schemas.openxmlformats.org/drawingml/2006/table">
            <a:tbl>
              <a:tblPr/>
              <a:tblGrid>
                <a:gridCol w="457200"/>
                <a:gridCol w="2834640"/>
                <a:gridCol w="1691640"/>
                <a:gridCol w="1600200"/>
                <a:gridCol w="283464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文獻／來源・年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外泌體來源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主要結果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證據等級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14B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A Comparative Analysis of iPSC, MSC, and 293T-Derived Exosomes for Parkinson's Disease Therapy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Int J Mol Sci 2026;27(10):4212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PMID 42196195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iPSC vs MSC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vs 293T 三方對比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MPP⁺ 誘導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SH-SY5Y 細胞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iPSC 衍生外泌體在所評估各項指標上均優於 MSC 與 293T；可減輕 MPP⁺ 誘導之細胞凋亡。母細胞來源決定囊泡貨物特性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A14B"/>
                          </a:solidFill>
                        </a:rPr>
                        <a:t>同儕審查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A14B"/>
                          </a:solidFill>
                        </a:rPr>
                        <a:t>但僅活體外；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A14B"/>
                          </a:solidFill>
                        </a:rPr>
                        <a:t>單一研究未重複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14B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iPSC-derived MSC secretome activates distinct neuroprotective pathways in a preclinical model of PD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bioRxiv 2025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10.1101/2025.11.07.687231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hiPSC→MSC（iMSC）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分泌體（含 EV），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對照骨髓 MSC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PD 活體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動物模型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iMSC 組運動與非運動功能改善較明顯、黑質緻密部多巴胺神經元保存較佳；兩種分泌體蛋白質體圖譜不同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4B5A"/>
                          </a:solidFill>
                        </a:rPr>
                        <a:t>預印本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4B5A"/>
                          </a:solidFill>
                        </a:rPr>
                        <a:t>未經同儕審查；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4B5A"/>
                          </a:solidFill>
                        </a:rPr>
                        <a:t>為分泌體非純化 EV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14B"/>
                          </a:solidFill>
                        </a:rPr>
                        <a:t>P3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iPSC-derived extracellular vesicles rescue Parkinson's-associated deficits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FENS Forum 2026 poster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University of Haifa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iPSC 衍生 EV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A53T SNCA 病人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iPSC 多巴胺神經元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＋ 小鼠模型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3D"/>
                          </a:solidFill>
                        </a:rPr>
                        <a:t>報告可回復 PD 相關缺陷；完整數據與效應量尚未發表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4B5A"/>
                          </a:solidFill>
                        </a:rPr>
                        <a:t>會議摘要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4B5A"/>
                          </a:solidFill>
                        </a:rPr>
                        <a:t>無同儕審查全文</a:t>
                      </a:r>
                      <a:endParaRPr lang="en-US" sz="1100" dirty="0"/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帕金森氏症：周邊文獻與證據缺口</a:t>
            </a:r>
            <a:endParaRPr lang="en-US" sz="2800" dirty="0"/>
          </a:p>
        </p:txBody>
      </p:sp>
      <p:sp>
        <p:nvSpPr>
          <p:cNvPr id="3" name="pd-side"/>
          <p:cNvSpPr/>
          <p:nvPr/>
        </p:nvSpPr>
        <p:spPr>
          <a:xfrm>
            <a:off x="548640" y="128016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EEF3F6"/>
          </a:solidFill>
          <a:ln w="635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D"/>
                </a:solidFill>
              </a:rPr>
              <a:t>相關但不屬於「iPSC 外泌體治療」</a:t>
            </a:r>
            <a:endParaRPr lang="en-US" sz="1500" dirty="0"/>
          </a:p>
        </p:txBody>
      </p:sp>
      <p:sp>
        <p:nvSpPr>
          <p:cNvPr id="5" name="disc-P4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D"/>
                </a:solidFill>
              </a:rPr>
              <a:t>de Rus Jacquet A, et al. eLife 2021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5798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</a:rPr>
              <a:t>LRRK2 G2019S 突變 iPSC 星狀細胞 EV 神經營養支持不足 → 神經元萎縮。屬致病方向，非治療</a:t>
            </a:r>
            <a:endParaRPr lang="en-US" sz="1100" dirty="0"/>
          </a:p>
        </p:txBody>
      </p:sp>
      <p:sp>
        <p:nvSpPr>
          <p:cNvPr id="9" name="disc-P5"/>
          <p:cNvSpPr/>
          <p:nvPr/>
        </p:nvSpPr>
        <p:spPr>
          <a:xfrm>
            <a:off x="777240" y="2688336"/>
            <a:ext cx="384048" cy="38404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700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D"/>
                </a:solidFill>
              </a:rPr>
              <a:t>Lee EJ, et al. J Nanobiotechnol 2022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2608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</a:rPr>
              <a:t>F3 人類 NSC 細胞株（非 iPSC）EV；6-OHDA 模型保護多巴胺神經元、降低 ROS 與發炎細胞激素</a:t>
            </a:r>
            <a:endParaRPr lang="en-US" sz="1100" dirty="0"/>
          </a:p>
        </p:txBody>
      </p:sp>
      <p:sp>
        <p:nvSpPr>
          <p:cNvPr id="13" name="disc-P6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381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D"/>
                </a:solidFill>
              </a:rPr>
              <a:t>Glial EV 雙面角色回顧 Int J Mol Sci 2026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9417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</a:rPr>
              <a:t>彙整 iPSC 膠細胞模型中 EV 可為保護亦可為有害，PD 突變會改變 EV 貨物組成</a:t>
            </a:r>
            <a:endParaRPr lang="en-US" sz="1100" dirty="0"/>
          </a:p>
        </p:txBody>
      </p:sp>
      <p:sp>
        <p:nvSpPr>
          <p:cNvPr id="17" name="disc-P7"/>
          <p:cNvSpPr/>
          <p:nvPr/>
        </p:nvSpPr>
        <p:spPr>
          <a:xfrm>
            <a:off x="777240" y="4224528"/>
            <a:ext cx="384048" cy="38404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06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D"/>
                </a:solidFill>
              </a:rPr>
              <a:t>多篇 MSC 外泌體 PD 研究 2020–2025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46227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</a:rPr>
              <a:t>UC-MSC、脂肪 MSC miR-188-3p、MSC miR-100a-5p 等，可作為效價比較的非 iPSC 基準線</a:t>
            </a:r>
            <a:endParaRPr lang="en-US" sz="1100" dirty="0"/>
          </a:p>
        </p:txBody>
      </p:sp>
      <p:sp>
        <p:nvSpPr>
          <p:cNvPr id="21" name="pd-gap"/>
          <p:cNvSpPr/>
          <p:nvPr/>
        </p:nvSpPr>
        <p:spPr>
          <a:xfrm>
            <a:off x="6309360" y="128016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FBEAEA"/>
          </a:solidFill>
          <a:ln w="6350">
            <a:solidFill>
              <a:srgbClr val="FBEAEA"/>
            </a:solidFill>
            <a:prstDash val="solid"/>
          </a:ln>
        </p:spPr>
      </p:sp>
      <p:sp>
        <p:nvSpPr>
          <p:cNvPr id="22" name="disc-!"/>
          <p:cNvSpPr/>
          <p:nvPr/>
        </p:nvSpPr>
        <p:spPr>
          <a:xfrm>
            <a:off x="6537960" y="1463040"/>
            <a:ext cx="457200" cy="457200"/>
          </a:xfrm>
          <a:prstGeom prst="ellipse">
            <a:avLst/>
          </a:prstGeom>
          <a:solidFill>
            <a:srgbClr val="C84B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14447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4B5A"/>
                </a:solidFill>
              </a:rPr>
              <a:t>四個具體缺口</a:t>
            </a:r>
            <a:endParaRPr lang="en-US" sz="1700" dirty="0"/>
          </a:p>
        </p:txBody>
      </p:sp>
      <p:sp>
        <p:nvSpPr>
          <p:cNvPr id="25" name="disc-1"/>
          <p:cNvSpPr/>
          <p:nvPr/>
        </p:nvSpPr>
        <p:spPr>
          <a:xfrm>
            <a:off x="6537960" y="2029968"/>
            <a:ext cx="365760" cy="365760"/>
          </a:xfrm>
          <a:prstGeom prst="ellipse">
            <a:avLst/>
          </a:prstGeom>
          <a:solidFill>
            <a:srgbClr val="C84B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9933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缺活體療效：沒有以純化 iPSC 外泌體在 MPTP／6-OHDA／A53T 動物模型完成行為學與組織學驗證的同儕審查論文</a:t>
            </a:r>
            <a:endParaRPr lang="en-US" sz="1150" dirty="0"/>
          </a:p>
        </p:txBody>
      </p:sp>
      <p:sp>
        <p:nvSpPr>
          <p:cNvPr id="28" name="disc-2"/>
          <p:cNvSpPr/>
          <p:nvPr/>
        </p:nvSpPr>
        <p:spPr>
          <a:xfrm>
            <a:off x="6537960" y="2743200"/>
            <a:ext cx="365760" cy="365760"/>
          </a:xfrm>
          <a:prstGeom prst="ellipse">
            <a:avLst/>
          </a:prstGeom>
          <a:solidFill>
            <a:srgbClr val="C84B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270662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缺劑量與給藥途徑：中風端已確立靜脈給藥，PD 端的靜脈 vs 鼻腔 vs 腦內定位注射尚無比較</a:t>
            </a:r>
            <a:endParaRPr lang="en-US" sz="1150" dirty="0"/>
          </a:p>
        </p:txBody>
      </p:sp>
      <p:sp>
        <p:nvSpPr>
          <p:cNvPr id="31" name="disc-3"/>
          <p:cNvSpPr/>
          <p:nvPr/>
        </p:nvSpPr>
        <p:spPr>
          <a:xfrm>
            <a:off x="6537960" y="3456432"/>
            <a:ext cx="365760" cy="365760"/>
          </a:xfrm>
          <a:prstGeom prst="ellipse">
            <a:avLst/>
          </a:prstGeom>
          <a:solidFill>
            <a:srgbClr val="C84B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341985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缺機制歸因：P1 僅報告「優於 MSC／293T」，未指認具體 miRNA／蛋白質貨物與下游路徑</a:t>
            </a:r>
            <a:endParaRPr lang="en-US" sz="1150" dirty="0"/>
          </a:p>
        </p:txBody>
      </p:sp>
      <p:sp>
        <p:nvSpPr>
          <p:cNvPr id="34" name="disc-4"/>
          <p:cNvSpPr/>
          <p:nvPr/>
        </p:nvSpPr>
        <p:spPr>
          <a:xfrm>
            <a:off x="6537960" y="4169664"/>
            <a:ext cx="365760" cy="365760"/>
          </a:xfrm>
          <a:prstGeom prst="ellipse">
            <a:avLst/>
          </a:prstGeom>
          <a:solidFill>
            <a:srgbClr val="C84B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1330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</a:rPr>
              <a:t>缺複製驗證：三筆核心文獻分屬三個團隊、三種證據型態，彼此無法互相印證</a:t>
            </a:r>
            <a:endParaRPr lang="en-US" sz="1150" dirty="0"/>
          </a:p>
        </p:txBody>
      </p:sp>
      <p:sp>
        <p:nvSpPr>
          <p:cNvPr id="37" name="pd-opportunity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7F6F3"/>
          </a:solidFill>
          <a:ln w="6350">
            <a:solidFill>
              <a:srgbClr val="E7F6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轉譯機會：</a:t>
            </a:r>
            <a:pPr indent="0" marL="0">
              <a:buNone/>
            </a:pPr>
            <a:r>
              <a:rPr lang="en-US" sz="1300" dirty="0">
                <a:solidFill>
                  <a:srgbClr val="3A4A63"/>
                </a:solidFill>
              </a:rPr>
              <a:t>中風端已驗證的 iMSC-sEV 製程（超過濾分離、靜脈 100 µg 多次給藥）與血管新生／免疫調節讀值，可直接移植到 PD 活體模型，補上目前最大的空白。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兩個方向的證據量對比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>
            <p:ph idx="101" type="chart" hasCustomPrompt="1"/>
          </p:nvPr>
        </p:nvGraphicFramePr>
        <p:xfrm>
          <a:off x="548640" y="128016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80960" y="128016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6223D"/>
                </a:solidFill>
              </a:rPr>
              <a:t>讀圖重點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中風方向在「活體療效」與「人體試驗」兩個關鍵層級都有實體文獻，是可以對外談轉譯進度的方向。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帕金森方向的筆數集中在旁證與未審查文獻，核心格（活體療效、人體試驗）為零。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兩者唯一重疊的細胞來源是 iPSC→MSC（iMSC）：中風端 S1／S2 已證實療效，PD 端僅有 P2 預印本。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84B5A"/>
                </a:solidFill>
              </a:rPr>
              <a:t>結論：PD 的 iPSC 外泌體不是「證據不足」，而是「尚未被做」。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結論與建議下一步</a:t>
            </a:r>
            <a:endParaRPr lang="en-US" sz="3000" dirty="0"/>
          </a:p>
        </p:txBody>
      </p:sp>
      <p:sp>
        <p:nvSpPr>
          <p:cNvPr id="3" name="concl-card-0"/>
          <p:cNvSpPr/>
          <p:nvPr/>
        </p:nvSpPr>
        <p:spPr>
          <a:xfrm>
            <a:off x="685800" y="1371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4" name="disc-1"/>
          <p:cNvSpPr/>
          <p:nvPr/>
        </p:nvSpPr>
        <p:spPr>
          <a:xfrm>
            <a:off x="941832" y="16276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183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可直接引用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40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iMSC-sEV 於大鼠／小鼠 MCAO 縮小梗塞體積（S1、S2）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機制收斂於血管新生：STAT3-自噬軸、VEGF／CXCR4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已有人體安全性試驗進行中（S5、S6）</a:t>
            </a:r>
            <a:endParaRPr lang="en-US" sz="1250" dirty="0"/>
          </a:p>
        </p:txBody>
      </p:sp>
      <p:sp>
        <p:nvSpPr>
          <p:cNvPr id="8" name="concl-card-1"/>
          <p:cNvSpPr/>
          <p:nvPr/>
        </p:nvSpPr>
        <p:spPr>
          <a:xfrm>
            <a:off x="4434840" y="1371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2A14B"/>
            </a:solidFill>
            <a:prstDash val="solid"/>
          </a:ln>
        </p:spPr>
      </p:sp>
      <p:sp>
        <p:nvSpPr>
          <p:cNvPr id="9" name="disc-2"/>
          <p:cNvSpPr/>
          <p:nvPr/>
        </p:nvSpPr>
        <p:spPr>
          <a:xfrm>
            <a:off x="4690872" y="1627632"/>
            <a:ext cx="457200" cy="457200"/>
          </a:xfrm>
          <a:prstGeom prst="ellipse">
            <a:avLst/>
          </a:prstGeom>
          <a:solidFill>
            <a:srgbClr val="F2A1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14B"/>
                </a:solidFill>
              </a:rPr>
              <a:t>引用需加註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240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S3／S4 為電針併用，sEV 單獨貢獻未切分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P1 僅 SH-SY5Y 活體外，且為單一研究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P2 為預印本、P3 為會議摘要</a:t>
            </a:r>
            <a:endParaRPr lang="en-US" sz="1250" dirty="0"/>
          </a:p>
        </p:txBody>
      </p:sp>
      <p:sp>
        <p:nvSpPr>
          <p:cNvPr id="13" name="concl-card-2"/>
          <p:cNvSpPr/>
          <p:nvPr/>
        </p:nvSpPr>
        <p:spPr>
          <a:xfrm>
            <a:off x="8183880" y="1371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14" name="disc-3"/>
          <p:cNvSpPr/>
          <p:nvPr/>
        </p:nvSpPr>
        <p:spPr>
          <a:xfrm>
            <a:off x="8439912" y="162763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991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</a:rPr>
              <a:t>建議下一步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240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以中風端 iMSC-sEV 製程切入 6-OHDA／MPTP 活體模型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設 iPSC-sEV 單獨治療組以切分效果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補做 miRNA／蛋白質貨物分析指認機制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4EA"/>
                </a:solidFill>
              </a:rPr>
              <a:t>在可連 PubMed 環境重跑檢索補齊全文效應量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983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</a:rPr>
              <a:t>完整逐篇表格（含 DOI／PMCID 全欄位）：papers.md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Vesicle">
  <a:themeElements>
    <a:clrScheme name="NeuroVesicle">
      <a:dk1>
        <a:srgbClr val="16223D"/>
      </a:dk1>
      <a:lt1>
        <a:srgbClr val="FFFFFF"/>
      </a:lt1>
      <a:dk2>
        <a:srgbClr val="3A4A63"/>
      </a:dk2>
      <a:lt2>
        <a:srgbClr val="EEF3F6"/>
      </a:lt2>
      <a:accent1>
        <a:srgbClr val="00A896"/>
      </a:accent1>
      <a:accent2>
        <a:srgbClr val="F2A14B"/>
      </a:accent2>
      <a:accent3>
        <a:srgbClr val="6C5CE7"/>
      </a:accent3>
      <a:accent4>
        <a:srgbClr val="C84B5A"/>
      </a:accent4>
      <a:accent5>
        <a:srgbClr val="2E86AB"/>
      </a:accent5>
      <a:accent6>
        <a:srgbClr val="8D99AE"/>
      </a:accent6>
      <a:hlink>
        <a:srgbClr val="00A896"/>
      </a:hlink>
      <a:folHlink>
        <a:srgbClr val="6C5CE7"/>
      </a:folHlink>
    </a:clrScheme>
    <a:fontScheme name="NeuroVesicl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iPS-Exosome 治療中風與帕金森氏症 文獻盤點</dc:title>
  <dc:subject>PptxGenJS Presentation</dc:subject>
  <dc:creator>Journal review</dc:creator>
  <cp:lastModifiedBy>Journal review</cp:lastModifiedBy>
  <cp:revision>1</cp:revision>
  <dcterms:created xsi:type="dcterms:W3CDTF">2026-10-14T05:38:20Z</dcterms:created>
  <dcterms:modified xsi:type="dcterms:W3CDTF">2026-10-14T05:38:20Z</dcterms:modified>
</cp:coreProperties>
</file>