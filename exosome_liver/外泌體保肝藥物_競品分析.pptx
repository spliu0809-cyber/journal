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封面" id="{e0d83efe-bdac-455e-7519-d4c95e45f198}">
          <p14:sldIdLst>
            <p14:sldId id="256"/>
          </p14:sldIdLst>
        </p14:section>
        <p14:section name="競品比較" id="{0f01176e-693a-cbc9-ba43-7d73bee1d831}">
          <p14:sldIdLst>
            <p14:sldId id="257"/>
            <p14:sldId id="258"/>
            <p14:sldId id="259"/>
          </p14:sldIdLst>
        </p14:section>
        <p14:section name="策略洞察" id="{edee023b-1245-4219-a9fd-8815a7a7428f}">
          <p14:sldIdLst>
            <p14:sldId id="260"/>
            <p14:sldId id="26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資料為截至 2026 年 10 月的網路公開資訊，試驗狀態與公司管線可能已有更新，正式使用前請於 ClinicalTrials.gov、CDE 及公司官網再次查證。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TITLE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106984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57600"/>
            <a:ext cx="1069848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accent5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資料來源：公開資料庫與新聞（截至 2026-10），細節需再查證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10698480" cy="1463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外泌體保肝／肝損傷治療藥物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全球競品分析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57600"/>
            <a:ext cx="106984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5"/>
                </a:solidFill>
              </a:rPr>
              <a:t>臨床階段管線 · 臨床前平台 · 差異化切入點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accent5"/>
                </a:solidFill>
              </a:rPr>
              <a:t>2026 年 10 月</a:t>
            </a:r>
            <a:endParaRPr lang="en-US" sz="1800" dirty="0"/>
          </a:p>
        </p:txBody>
      </p:sp>
      <p:sp>
        <p:nvSpPr>
          <p:cNvPr id="4" name="motif1"/>
          <p:cNvSpPr/>
          <p:nvPr/>
        </p:nvSpPr>
        <p:spPr>
          <a:xfrm>
            <a:off x="9692640" y="548640"/>
            <a:ext cx="1645920" cy="1645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motif2"/>
          <p:cNvSpPr/>
          <p:nvPr/>
        </p:nvSpPr>
        <p:spPr>
          <a:xfrm>
            <a:off x="10698480" y="1371600"/>
            <a:ext cx="914400" cy="914400"/>
          </a:xfrm>
          <a:prstGeom prst="ellipse">
            <a:avLst/>
          </a:prstGeom>
          <a:solidFill>
            <a:schemeClr val="accent2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全球尚無核准上市的外泌體肝病藥物，賽道仍在早期</a:t>
            </a:r>
            <a:endParaRPr lang="en-US" sz="2800" dirty="0"/>
          </a:p>
        </p:txBody>
      </p:sp>
      <p:sp>
        <p:nvSpPr>
          <p:cNvPr id="3" name="statCard0"/>
          <p:cNvSpPr/>
          <p:nvPr/>
        </p:nvSpPr>
        <p:spPr>
          <a:xfrm>
            <a:off x="548640" y="1463040"/>
            <a:ext cx="3474720" cy="3108960"/>
          </a:xfrm>
          <a:prstGeom prst="roundRect">
            <a:avLst>
              <a:gd name="adj" fmla="val 4412"/>
            </a:avLst>
          </a:prstGeom>
          <a:solidFill>
            <a:schemeClr val="bg2"/>
          </a:solidFill>
          <a:ln/>
        </p:spPr>
      </p:sp>
      <p:sp>
        <p:nvSpPr>
          <p:cNvPr id="4" name="statCircle0"/>
          <p:cNvSpPr/>
          <p:nvPr/>
        </p:nvSpPr>
        <p:spPr>
          <a:xfrm>
            <a:off x="1600200" y="1737360"/>
            <a:ext cx="1371600" cy="13716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600200" y="173736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0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2918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核准上市的外泌體肝病藥物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79476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全球皆尚無</a:t>
            </a:r>
            <a:endParaRPr lang="en-US" sz="1400" dirty="0"/>
          </a:p>
        </p:txBody>
      </p:sp>
      <p:sp>
        <p:nvSpPr>
          <p:cNvPr id="8" name="statCard1"/>
          <p:cNvSpPr/>
          <p:nvPr/>
        </p:nvSpPr>
        <p:spPr>
          <a:xfrm>
            <a:off x="4297680" y="1463040"/>
            <a:ext cx="3474720" cy="3108960"/>
          </a:xfrm>
          <a:prstGeom prst="roundRect">
            <a:avLst>
              <a:gd name="adj" fmla="val 4412"/>
            </a:avLst>
          </a:prstGeom>
          <a:solidFill>
            <a:schemeClr val="bg2"/>
          </a:solidFill>
          <a:ln/>
        </p:spPr>
      </p:sp>
      <p:sp>
        <p:nvSpPr>
          <p:cNvPr id="9" name="statCircle1"/>
          <p:cNvSpPr/>
          <p:nvPr/>
        </p:nvSpPr>
        <p:spPr>
          <a:xfrm>
            <a:off x="5349240" y="1737360"/>
            <a:ext cx="1371600" cy="13716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349240" y="173736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6+</a:t>
            </a:r>
            <a:endParaRPr lang="en-US" sz="4400" dirty="0"/>
          </a:p>
        </p:txBody>
      </p:sp>
      <p:sp>
        <p:nvSpPr>
          <p:cNvPr id="11" name="Text 9"/>
          <p:cNvSpPr txBox="1"/>
          <p:nvPr/>
        </p:nvSpPr>
        <p:spPr>
          <a:xfrm>
            <a:off x="4480560" y="32918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人體試驗／研究者發起研究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4480560" y="379476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多為中國單中心，以 MSC 來源為主</a:t>
            </a:r>
            <a:endParaRPr lang="en-US" sz="1400" dirty="0"/>
          </a:p>
        </p:txBody>
      </p:sp>
      <p:sp>
        <p:nvSpPr>
          <p:cNvPr id="13" name="statCard2"/>
          <p:cNvSpPr/>
          <p:nvPr/>
        </p:nvSpPr>
        <p:spPr>
          <a:xfrm>
            <a:off x="8046720" y="1463040"/>
            <a:ext cx="3474720" cy="3108960"/>
          </a:xfrm>
          <a:prstGeom prst="roundRect">
            <a:avLst>
              <a:gd name="adj" fmla="val 4412"/>
            </a:avLst>
          </a:prstGeom>
          <a:solidFill>
            <a:schemeClr val="bg2"/>
          </a:solidFill>
          <a:ln/>
        </p:spPr>
      </p:sp>
      <p:sp>
        <p:nvSpPr>
          <p:cNvPr id="14" name="statCircle2"/>
          <p:cNvSpPr/>
          <p:nvPr/>
        </p:nvSpPr>
        <p:spPr>
          <a:xfrm>
            <a:off x="9098280" y="1737360"/>
            <a:ext cx="1371600" cy="137160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098280" y="173736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1</a:t>
            </a:r>
            <a:endParaRPr lang="en-US" sz="44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0" y="32918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首件外泌體肝病 IND 受理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0" y="379476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STX11101（中國 CDE，2026-04）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4892040"/>
            <a:ext cx="11064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觀察：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目前競品幾乎都瞄準「急性／慢加急性肝衰竭（ACLF）」，以未修飾的 MSC 外泌體為主；藥物性肝損傷（DILI）、缺血再灌注損傷與 MASH 的臨床管線仍是空白。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臨床階段競品：集中於中國，鎖定肝衰竭</a:t>
            </a:r>
            <a:endParaRPr lang="en-US" sz="2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6424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2468880"/>
                <a:gridCol w="1737360"/>
                <a:gridCol w="2743200"/>
                <a:gridCol w="21945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開發者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9D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產品／外泌體來源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9D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適應症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9D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階段／狀態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9D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設計重點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9D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上海思德克索生物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9D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STX11101 注射液｜基因工程修飾 hUC-MSC 外泌體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9D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急性肝衰竭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9D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IND 獲 CDE 受理（2026-04）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9D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中國首件外泌體 1 類新藥 IND；工程化修飾為最強直接競品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9D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中山大學附屬第三醫院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9D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PT-MSCs 外泌體注射液｜圍產期組織 MSC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9D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慢加急性肝衰竭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9D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隨機對照試驗，2026-01 啟動（NCT07409259）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9D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單中心；預計 2027-08 完成主要終點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9D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中山大學附屬第三醫院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9D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MSC-EVs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9D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急性／慢加急性肝衰竭；肝移植後 ACLF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9D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Phase 1/2：NCT05940610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Phase 1：NCT05881668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Phase 1：NCT06825572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9D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每週 1 次 × 4 週，對照組為標準治療；移植後研究約 30 例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9D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南方醫科大學珠江醫院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9D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MSC 來源外泌體（靜脈輸注）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9D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肝衰竭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9D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研究者發起研究，2025-06 啟動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9D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前瞻性單臂設計，20 例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9D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Global Stem Cell Center（伊拉克）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9D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自體骨髓單核細胞 + Wharton's jelly 外泌體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9D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肝硬化（各期）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9D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研究登錄（NCT07374185）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9D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細胞與外泌體併用，非單一外泌體產品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9D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臨床前與平台型潛在競品：工程化與肝靶向是主流方向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6424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2743200"/>
                <a:gridCol w="2103120"/>
                <a:gridCol w="1828800"/>
                <a:gridCol w="21945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開發者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9D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技術／來源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9D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肝臟相關適應症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9D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階段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9D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與本案關係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9D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Unicyte（Fresenius Medical Care 子公司）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9D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人類肝幹細胞（HLSC）來源 nEV；美國專利 US12239671B2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9D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MASH、肝癌、移植肝灌流保護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9D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臨床前（大鼠機械灌流時轉胺酶下降）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9D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肝源性外泌體的最直接國際競品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9D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DGIST（韓國）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9D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表面 FGF21 + 內含 miR-223 的工程化 EV；WO2026100865A1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9D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MASH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9D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臨床前（Biomaterials 2025）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9D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肝靶向 + 雙重載物的設計參考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9D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Direct Biologics（美國）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9D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ExoFlo｜骨髓 MSC 來源 EV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9D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尚無肝臟適應症（主力為 ARDS Phase 3）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9D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後期臨床（非肝病）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9D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具 GMP 量產能力，可能擴展到肝病的潛在進入者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9D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國璽幹細胞（台灣）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9D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GXHPC1｜幹細胞藥物（非外泌體）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9D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肝硬化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9D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台灣多中心 Phase 2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9D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間接競品／替代療法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9D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學術界（中國等）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9D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藥物裝載外泌體（wedelolactone）、植物來源類外泌體（山藥）、外泌體-niosome 攜氧載體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9D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敗血症肝損傷、乙醯胺酚肝損傷、急性肝損傷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9D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動物實驗（2026）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9D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保肝與藥物性肝損傷方向的早期訊號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9D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可能的差異化切入點</a:t>
            </a:r>
            <a:endParaRPr lang="en-US" sz="2800" dirty="0"/>
          </a:p>
        </p:txBody>
      </p:sp>
      <p:sp>
        <p:nvSpPr>
          <p:cNvPr id="3" name="card0"/>
          <p:cNvSpPr/>
          <p:nvPr/>
        </p:nvSpPr>
        <p:spPr>
          <a:xfrm>
            <a:off x="548640" y="1325880"/>
            <a:ext cx="5440680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/>
        </p:spPr>
      </p:sp>
      <p:sp>
        <p:nvSpPr>
          <p:cNvPr id="4" name="num0"/>
          <p:cNvSpPr/>
          <p:nvPr/>
        </p:nvSpPr>
        <p:spPr>
          <a:xfrm>
            <a:off x="822960" y="160020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6002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1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737360" y="1600200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選擇空白適應症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423160"/>
            <a:ext cx="4892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藥物性肝損傷、肝切除／移植缺血再灌注損傷與 MASH 纖維化，目前沒有外泌體人體試驗</a:t>
            </a:r>
            <a:endParaRPr lang="en-US" sz="1600" dirty="0"/>
          </a:p>
        </p:txBody>
      </p:sp>
      <p:sp>
        <p:nvSpPr>
          <p:cNvPr id="8" name="card1"/>
          <p:cNvSpPr/>
          <p:nvPr/>
        </p:nvSpPr>
        <p:spPr>
          <a:xfrm>
            <a:off x="6172200" y="1325880"/>
            <a:ext cx="5440680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/>
        </p:spPr>
      </p:sp>
      <p:sp>
        <p:nvSpPr>
          <p:cNvPr id="9" name="num1"/>
          <p:cNvSpPr/>
          <p:nvPr/>
        </p:nvSpPr>
        <p:spPr>
          <a:xfrm>
            <a:off x="6446520" y="1600200"/>
            <a:ext cx="685800" cy="6858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46520" y="16002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2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7360920" y="1600200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來源細胞差異化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6446520" y="2423160"/>
            <a:ext cx="4892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競品多為 MSC；肝前驅細胞或肝幹細胞來源（如 Unicyte）可主打肝特異性</a:t>
            </a:r>
            <a:endParaRPr lang="en-US" sz="1600" dirty="0"/>
          </a:p>
        </p:txBody>
      </p:sp>
      <p:sp>
        <p:nvSpPr>
          <p:cNvPr id="13" name="card2"/>
          <p:cNvSpPr/>
          <p:nvPr/>
        </p:nvSpPr>
        <p:spPr>
          <a:xfrm>
            <a:off x="548640" y="3840480"/>
            <a:ext cx="5440680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/>
        </p:spPr>
      </p:sp>
      <p:sp>
        <p:nvSpPr>
          <p:cNvPr id="14" name="num2"/>
          <p:cNvSpPr/>
          <p:nvPr/>
        </p:nvSpPr>
        <p:spPr>
          <a:xfrm>
            <a:off x="822960" y="4114800"/>
            <a:ext cx="685800" cy="68580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22960" y="41148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3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1737360" y="4114800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工程化與肝靶向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4937760"/>
            <a:ext cx="4892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載入 miRNA 或藥物並修飾表面配體，以提升肝臟累積與藥效（對標 STX11101、DGIST）</a:t>
            </a:r>
            <a:endParaRPr lang="en-US" sz="1600" dirty="0"/>
          </a:p>
        </p:txBody>
      </p:sp>
      <p:sp>
        <p:nvSpPr>
          <p:cNvPr id="18" name="card3"/>
          <p:cNvSpPr/>
          <p:nvPr/>
        </p:nvSpPr>
        <p:spPr>
          <a:xfrm>
            <a:off x="6172200" y="3840480"/>
            <a:ext cx="5440680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/>
        </p:spPr>
      </p:sp>
      <p:sp>
        <p:nvSpPr>
          <p:cNvPr id="19" name="num3"/>
          <p:cNvSpPr/>
          <p:nvPr/>
        </p:nvSpPr>
        <p:spPr>
          <a:xfrm>
            <a:off x="6446520" y="4114800"/>
            <a:ext cx="685800" cy="68580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46520" y="41148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4</a:t>
            </a:r>
            <a:endParaRPr lang="en-US" sz="2200" dirty="0"/>
          </a:p>
        </p:txBody>
      </p:sp>
      <p:sp>
        <p:nvSpPr>
          <p:cNvPr id="21" name="Text 19"/>
          <p:cNvSpPr txBox="1"/>
          <p:nvPr/>
        </p:nvSpPr>
        <p:spPr>
          <a:xfrm>
            <a:off x="7360920" y="4114800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化學製造管控與法規先行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6446520" y="4937760"/>
            <a:ext cx="4892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建立效價試驗（potency assay）與批次一致性；運用台灣再生醫療雙法（2024）與 TFDA 諮詢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參考資料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1106424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ClinicalTrials.gov：NCT07409259、NCT05940610、NCT05881668、NCT06825572、NCT07374185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醫藥魔方 ByDrug：國內首個外泌體 IND 獲受理（STX11101，2026-04）；全球首個幹細胞外泌體治療肝衰竭臨床研究啟動（珠江醫院，2025-06）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Unicyte EV AG 專利 US12239671B2；pharmaceutical-technology.com 管線資料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DGIST，Biomaterials 2025（FGF21／miR-223 工程化 EV）；專利 WO2026100865A1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Direct Biologics 新聞稿（ExoFlo，ARDS Phase 3）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工商時報：國璽幹細胞 GXHPC1 肝硬化 Phase 2；艾萬霖、聖安生醫外泌體平台（尚無肝病適應症）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Drug Delivery 2026（wedelolactone 外泌體）；J Nanobiotechnology 2026（山藥類外泌體）；Biomater Sci 2026（外泌體-niosome）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Stem Cell Res Ther 2024–2025：MSC 外泌體治療肝損傷與肝衰竭的綜述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epatic">
  <a:themeElements>
    <a:clrScheme name="Hepatic">
      <a:dk1>
        <a:srgbClr val="1F1A1C"/>
      </a:dk1>
      <a:lt1>
        <a:srgbClr val="FFFFFF"/>
      </a:lt1>
      <a:dk2>
        <a:srgbClr val="5B1420"/>
      </a:dk2>
      <a:lt2>
        <a:srgbClr val="F3F1F1"/>
      </a:lt2>
      <a:accent1>
        <a:srgbClr val="7A1F2B"/>
      </a:accent1>
      <a:accent2>
        <a:srgbClr val="1F8A7E"/>
      </a:accent2>
      <a:accent3>
        <a:srgbClr val="E09F3E"/>
      </a:accent3>
      <a:accent4>
        <a:srgbClr val="6B6B6B"/>
      </a:accent4>
      <a:accent5>
        <a:srgbClr val="C9DDD9"/>
      </a:accent5>
      <a:accent6>
        <a:srgbClr val="EBD3D6"/>
      </a:accent6>
      <a:hlink>
        <a:srgbClr val="1F8A7E"/>
      </a:hlink>
      <a:folHlink>
        <a:srgbClr val="7A1F2B"/>
      </a:folHlink>
    </a:clrScheme>
    <a:fontScheme name="Hepatic">
      <a:majorFont>
        <a:latin typeface="Microsoft Jheng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Jheng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外泌體保肝／肝損傷治療藥物 競品分析</dc:title>
  <dc:subject>PptxGenJS Presentation</dc:subject>
  <dc:creator>PptxGenJS</dc:creator>
  <cp:lastModifiedBy>PptxGenJS</cp:lastModifiedBy>
  <cp:revision>1</cp:revision>
  <dcterms:created xsi:type="dcterms:W3CDTF">2026-10-13T06:59:09Z</dcterms:created>
  <dcterms:modified xsi:type="dcterms:W3CDTF">2026-10-13T06:59:09Z</dcterms:modified>
</cp:coreProperties>
</file>