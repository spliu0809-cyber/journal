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6731413-2c81-a6c9-f75f-bcf941ac41f1}">
          <p14:sldIdLst>
            <p14:sldId id="256"/>
          </p14:sldIdLst>
        </p14:section>
        <p14:section name="核心結論" id="{8b0a4433-96d5-5df7-2323-bd9c75d366c1}">
          <p14:sldIdLst>
            <p14:sldId id="257"/>
          </p14:sldIdLst>
        </p14:section>
        <p14:section name="GPC1 現況" id="{b6882240-f39b-2638-2902-ac67240c6252}">
          <p14:sldIdLst>
            <p14:sldId id="258"/>
          </p14:sldIdLst>
        </p14:section>
        <p14:section name="篩選框架" id="{6297d15a-ca65-b386-8d9e-49d72fcfad8e}">
          <p14:sldIdLst>
            <p14:sldId id="259"/>
          </p14:sldIdLst>
        </p14:section>
        <p14:section name="候選標靶比較" id="{2d8e148f-9e55-5c9a-61d3-7dfac4b433ab}">
          <p14:sldIdLst>
            <p14:sldId id="260"/>
            <p14:sldId id="261"/>
            <p14:sldId id="262"/>
            <p14:sldId id="263"/>
            <p14:sldId id="264"/>
          </p14:sldIdLst>
        </p14:section>
        <p14:section name="分子設計" id="{6babd366-53cf-3f53-9dd8-509af9ece819}">
          <p14:sldIdLst>
            <p14:sldId id="265"/>
          </p14:sldIdLst>
        </p14:section>
        <p14:section name="風險與計畫" id="{e7b4d917-7629-ada7-0da2-c0ec951dcedc}">
          <p14:sldIdLst>
            <p14:sldId id="266"/>
            <p14:sldId id="267"/>
            <p14:sldId id="268"/>
          </p14:sldIdLst>
        </p14:section>
        <p14:section name="參考資料" id="{3e0a3ab4-c88b-2e84-af8b-d7c5e6abcda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本簡報為標靶選擇的技術與BD評估，非臨床治療建議。所有數據均附文獻或NCT編號出處，末頁列出完整參考清單。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這頁是全篇的 pyramid 頂端。第3點必須講清楚：GPC1 的 CRC 證據等級低於第二標靶候選，所以驗證順序是先確認 GPC1 在 CRC 的蛋白層級表達與共表達，再投入雙標靶分子設計。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右欄每一條都對應後面『驗證計畫』的一個實驗。特別是陽性率與共表達率，這是 go/no-go。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準則 02 是雙標靶設計的分水嶺：共表達決定 AND-gate 可行性，互斥表達則只能走 OR-gate 擴大覆蓋。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CDH17 的 96% 來自 CHM-2101 計畫引用的資料集。注意一項 CDH17/GUCY2C 雙標 CAR-T 試驗（NCT07152210）已因公司策略調整撤回，代表此組合有空間但也要查清其撤回原因。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重點談判訊息：CDH17 單標已有人做，我們的差異化只能來自 GPC1 這一臂加上邏輯設計。所以共表達數據同時是科學與商業的關鍵。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數據出自 Qi 等人 2026 年 JCO 線上發表的中國 Phase I 研究，與美國 NCT05319314 為不同計畫，簡報時要分清。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CEA 這一欄的教訓最重要：它說明為什麼安全窗比表達率更能決定標靶價值。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保留這頁可避免日後重新討論同樣的候選。TAG-72 是最明確的陰性前例。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這頁的核心邏輯：共表達→AND-gate；互斥表達→OR-gate。所以第3頁的共表達實驗必須先做。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這四點是技術盡職調查會被問到的問題，先備好答案。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CDH17/GUCY2C 雙標試驗撤回的理由寫的是公司策略調整，不代表技術失敗，但盡職調查時要追。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第一階段若共表達率低於30%，整個AND-gate路線作廢，改走OR-gate；這是最省錢的早期決策點。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所有百分比與試驗編號均來自此清單。注意：GPC1 在 CRC 的陽性率無可引用來源，這正是計畫第一階段要補的數據。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05740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31920"/>
            <a:ext cx="9144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9FC8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9FC8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D5EE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D5EE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373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大腸癌雙標靶策略  ·  內部討論用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8FA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dirty="0">
                <a:solidFill>
                  <a:srgbClr val="8FA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373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大腸癌雙標靶策略  ·  內部討論用</a:t>
            </a:r>
            <a:endParaRPr lang="en-US" sz="9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8FA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dirty="0">
                <a:solidFill>
                  <a:srgbClr val="8FA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1"/>
          <p:cNvSpPr/>
          <p:nvPr/>
        </p:nvSpPr>
        <p:spPr>
          <a:xfrm>
            <a:off x="8503920" y="-1371600"/>
            <a:ext cx="5669280" cy="5669280"/>
          </a:xfrm>
          <a:prstGeom prst="ellipse">
            <a:avLst/>
          </a:prstGeom>
          <a:solidFill>
            <a:srgbClr val="02474F"/>
          </a:solidFill>
          <a:ln w="12700">
            <a:solidFill>
              <a:srgbClr val="02474F"/>
            </a:solidFill>
            <a:prstDash val="solid"/>
          </a:ln>
        </p:spPr>
      </p:sp>
      <p:sp>
        <p:nvSpPr>
          <p:cNvPr id="3" name="deco-2"/>
          <p:cNvSpPr/>
          <p:nvPr/>
        </p:nvSpPr>
        <p:spPr>
          <a:xfrm>
            <a:off x="10058400" y="3108960"/>
            <a:ext cx="3108960" cy="3108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標靶評估報告</a:t>
            </a:r>
            <a:endParaRPr lang="en-US" sz="13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0574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GPC1 為核心的大腸癌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雙標靶藥物開發策略</a:t>
            </a:r>
            <a:endParaRPr lang="en-US" sz="40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3931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C8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CAR-T 與抗體藥物（ADC／雙特異抗體）之第二標靶候選評估、優缺點比較與驗證路徑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F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10 月  ·  依據同儕審閱文獻與公開臨床試驗／生技公司開發案彙整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核心結論：先驗證共表達，再押注 CDH17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三項判斷決定此專案的成敗順序</a:t>
            </a:r>
            <a:endParaRPr lang="en-US" sz="1300" dirty="0"/>
          </a:p>
        </p:txBody>
      </p:sp>
      <p:sp>
        <p:nvSpPr>
          <p:cNvPr id="4" name="concl-1"/>
          <p:cNvSpPr/>
          <p:nvPr/>
        </p:nvSpPr>
        <p:spPr>
          <a:xfrm>
            <a:off x="548640" y="1572768"/>
            <a:ext cx="11064240" cy="1389888"/>
          </a:xfrm>
          <a:prstGeom prst="roundRect">
            <a:avLst>
              <a:gd name="adj" fmla="val 5263"/>
            </a:avLst>
          </a:prstGeom>
          <a:solidFill>
            <a:srgbClr val="F4FAFA"/>
          </a:solidFill>
          <a:ln w="12700">
            <a:solidFill>
              <a:srgbClr val="D9ECEC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badge-1"/>
          <p:cNvSpPr/>
          <p:nvPr/>
        </p:nvSpPr>
        <p:spPr>
          <a:xfrm>
            <a:off x="822960" y="18470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55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首選第二標靶：CDH17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3969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大腸癌表達率約 96%，且在正常腸道上皮主要位於緊密連接（tight junction）而不易被抗體／CAR 觸及，安全窗優於 CEA 與 EpCAM。CHM-2101 已進入 Phase 1/2（NCT06055439），標靶已部分去風險。</a:t>
            </a:r>
            <a:endParaRPr lang="en-US" sz="1150" dirty="0"/>
          </a:p>
        </p:txBody>
      </p:sp>
      <p:sp>
        <p:nvSpPr>
          <p:cNvPr id="9" name="concl-2"/>
          <p:cNvSpPr/>
          <p:nvPr/>
        </p:nvSpPr>
        <p:spPr>
          <a:xfrm>
            <a:off x="548640" y="3090672"/>
            <a:ext cx="11064240" cy="1389888"/>
          </a:xfrm>
          <a:prstGeom prst="roundRect">
            <a:avLst>
              <a:gd name="adj" fmla="val 5263"/>
            </a:avLst>
          </a:prstGeom>
          <a:solidFill>
            <a:srgbClr val="F4FAFA"/>
          </a:solidFill>
          <a:ln w="12700">
            <a:solidFill>
              <a:srgbClr val="D9ECEC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0" name="badge-2"/>
          <p:cNvSpPr/>
          <p:nvPr/>
        </p:nvSpPr>
        <p:spPr>
          <a:xfrm>
            <a:off x="822960" y="336499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73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次選：GUCY2C（療效證據最強）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65760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GUCY2C CAR-T 在轉移性大腸癌 Phase I 已有客觀緩解：n=20，可評估 19 人 ORR 26.3%，DL3 組 40%、中位 PFS 7.0 個月，Grade 3 CRS 僅 5%。正常表達限於腸腔側。</a:t>
            </a:r>
            <a:endParaRPr lang="en-US" sz="1150" dirty="0"/>
          </a:p>
        </p:txBody>
      </p:sp>
      <p:sp>
        <p:nvSpPr>
          <p:cNvPr id="14" name="concl-3"/>
          <p:cNvSpPr/>
          <p:nvPr/>
        </p:nvSpPr>
        <p:spPr>
          <a:xfrm>
            <a:off x="548640" y="4608576"/>
            <a:ext cx="11064240" cy="1389888"/>
          </a:xfrm>
          <a:prstGeom prst="roundRect">
            <a:avLst>
              <a:gd name="adj" fmla="val 5263"/>
            </a:avLst>
          </a:prstGeom>
          <a:solidFill>
            <a:srgbClr val="FDF1ED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5" name="badge-3"/>
          <p:cNvSpPr/>
          <p:nvPr/>
        </p:nvSpPr>
        <p:spPr>
          <a:xfrm>
            <a:off x="822960" y="488289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82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7914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最大風險在 GPC1 本身，不在第二標靶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17550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在大腸癌尚無任何 CAR-T／ADC 臨床試驗，現有證據多為 TCGA 生物資訊加小樣本 IHC（一篇僅 4 對組織）。臨床資產集中在胰臟癌／前列腺癌。共表達率未知＝首要待驗證項。</a:t>
            </a:r>
            <a:endParaRPr lang="en-US" sz="1150" dirty="0"/>
          </a:p>
        </p:txBody>
      </p:sp>
      <p:sp>
        <p:nvSpPr>
          <p:cNvPr id="20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作為大腸癌標靶：證據與缺口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支持立項，但不足以直接進入分子設計</a:t>
            </a:r>
            <a:endParaRPr lang="en-US" sz="1300" dirty="0"/>
          </a:p>
        </p:txBody>
      </p:sp>
      <p:sp>
        <p:nvSpPr>
          <p:cNvPr id="4" name="pro"/>
          <p:cNvSpPr/>
          <p:nvPr/>
        </p:nvSpPr>
        <p:spPr>
          <a:xfrm>
            <a:off x="548640" y="1572768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1F9F6"/>
          </a:solidFill>
          <a:ln w="12700">
            <a:solidFill>
              <a:srgbClr val="BFE3D7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badge-✓"/>
          <p:cNvSpPr/>
          <p:nvPr/>
        </p:nvSpPr>
        <p:spPr>
          <a:xfrm>
            <a:off x="804672" y="18105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支持證據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04288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550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腫瘤生物學：GPC1 經 TGF-β1／SMAD2 促進 CRC 生長與遷移，高表達與較短總存活相關（PLOS ONE 2022）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550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免疫微環境：50 例 COAD 中 GPC1 與 Treg 浸潤正相關，屬預後不良因子（2022）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550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正常組織分布有利：主要在胚胎期神經與骨骼系統表達，成人組織表達量低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550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跨癌種可成藥性已驗證：抗 GPC1 CAR-T（鱗癌、胰臟癌 VHH）、GPC1-ADC（MMAF，胰臟癌 PDX 有劑量相關抑制）、GPC1 BiTE（前列腺癌）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550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臨床安全性初步訊號：Miltuximab 首次人體試驗 12 人給藥，未報告藥物相關不良事件</a:t>
            </a:r>
            <a:endParaRPr lang="en-US" sz="1100" dirty="0"/>
          </a:p>
        </p:txBody>
      </p:sp>
      <p:sp>
        <p:nvSpPr>
          <p:cNvPr id="9" name="gap"/>
          <p:cNvSpPr/>
          <p:nvPr/>
        </p:nvSpPr>
        <p:spPr>
          <a:xfrm>
            <a:off x="6263640" y="1572768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DF1ED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0" name="badge-!"/>
          <p:cNvSpPr/>
          <p:nvPr/>
        </p:nvSpPr>
        <p:spPr>
          <a:xfrm>
            <a:off x="6519672" y="1810512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關鍵缺口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304288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CRC 陽性率數據：查無以組織微陣列報告 GPC1 蛋白陽性比例並連結存活的 CRC 研究；最大 IHC 樣本為 50 例，另一篇僅 4 對組織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CRC 臨床試驗：GPC1 導向 CAR-T／ADC 皆未在大腸癌進入臨床；可比對的胰臟癌陽性率為 59.7%（111/186）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表位可及性：GPC1 為硫酸肝素蛋白聚醣，醣鏈可遮蔽表位；胰臟癌研究須採「膜遠端表位＋剛性 IgG4 hinge＋CD28 TM」才能在低抗原密度下作用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可溶性抗原陷阱：GPC1 大量釋入外泌體，可能中和 ADC／CAR 並干擾療效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纖維母細胞表達：胰臟癌中腫瘤旁 CAF 亦表達，使 AND-gate 邏輯在 stroma 失效</a:t>
            </a:r>
            <a:endParaRPr lang="en-US" sz="1100" dirty="0"/>
          </a:p>
        </p:txBody>
      </p:sp>
      <p:sp>
        <p:nvSpPr>
          <p:cNvPr id="15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第二標靶篩選的六項準則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每項候選標靶皆依此六軸評分，再決定分子形式</a:t>
            </a:r>
            <a:endParaRPr lang="en-US" sz="1300" dirty="0"/>
          </a:p>
        </p:txBody>
      </p:sp>
      <p:sp>
        <p:nvSpPr>
          <p:cNvPr id="4" name="crit-01"/>
          <p:cNvSpPr/>
          <p:nvPr/>
        </p:nvSpPr>
        <p:spPr>
          <a:xfrm>
            <a:off x="548640" y="160020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783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F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腫瘤覆蓋率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426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CRC 蛋白層級陽性率；能否補足 GPC1 陰性族群，降低抗原逃脫</a:t>
            </a:r>
            <a:endParaRPr lang="en-US" sz="1050" dirty="0"/>
          </a:p>
        </p:txBody>
      </p:sp>
      <p:sp>
        <p:nvSpPr>
          <p:cNvPr id="8" name="crit-02"/>
          <p:cNvSpPr/>
          <p:nvPr/>
        </p:nvSpPr>
        <p:spPr>
          <a:xfrm>
            <a:off x="4270248" y="160020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F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GPC1 共表達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6426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同一腫瘤細胞共表達＝可做 AND-gate；互斥表達＝應做 OR-gate／tandem</a:t>
            </a:r>
            <a:endParaRPr lang="en-US" sz="1050" dirty="0"/>
          </a:p>
        </p:txBody>
      </p:sp>
      <p:sp>
        <p:nvSpPr>
          <p:cNvPr id="12" name="crit-03"/>
          <p:cNvSpPr/>
          <p:nvPr/>
        </p:nvSpPr>
        <p:spPr>
          <a:xfrm>
            <a:off x="7991856" y="160020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783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F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正常組織安全窗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426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正常腸道、肺、心是否表達；表位是否位於不可及的腔側或緊密連接</a:t>
            </a:r>
            <a:endParaRPr lang="en-US" sz="1050" dirty="0"/>
          </a:p>
        </p:txBody>
      </p:sp>
      <p:sp>
        <p:nvSpPr>
          <p:cNvPr id="16" name="crit-04"/>
          <p:cNvSpPr/>
          <p:nvPr/>
        </p:nvSpPr>
        <p:spPr>
          <a:xfrm>
            <a:off x="548640" y="374904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6384" y="39319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F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407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臨床驗證程度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7914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是否已有 CAR-T／ADC／雙特異抗體進入臨床並讀出安全性與療效</a:t>
            </a:r>
            <a:endParaRPr lang="en-US" sz="1050" dirty="0"/>
          </a:p>
        </p:txBody>
      </p:sp>
      <p:sp>
        <p:nvSpPr>
          <p:cNvPr id="20" name="crit-05"/>
          <p:cNvSpPr/>
          <p:nvPr/>
        </p:nvSpPr>
        <p:spPr>
          <a:xfrm>
            <a:off x="4270248" y="374904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07992" y="39319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F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07992" y="4407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分子可成藥性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07992" y="47914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抗原密度、內噬速率（ADC 必需）、表位是否被醣鏈遮蔽</a:t>
            </a:r>
            <a:endParaRPr lang="en-US" sz="1050" dirty="0"/>
          </a:p>
        </p:txBody>
      </p:sp>
      <p:sp>
        <p:nvSpPr>
          <p:cNvPr id="24" name="crit-06"/>
          <p:cNvSpPr/>
          <p:nvPr/>
        </p:nvSpPr>
        <p:spPr>
          <a:xfrm>
            <a:off x="7991856" y="374904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39319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F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407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競爭與 IP 空間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914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既有專利與對手進度；雙標組合是否仍有新穎性與自由實施空間</a:t>
            </a:r>
            <a:endParaRPr lang="en-US" sz="1050" dirty="0"/>
          </a:p>
        </p:txBody>
      </p:sp>
      <p:sp>
        <p:nvSpPr>
          <p:cNvPr id="29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候選第二標靶總覽（依建議優先序）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臨床驗證程度以公開試驗登錄與同儕審閱數據為準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2331720"/>
                <a:gridCol w="2240280"/>
                <a:gridCol w="2606040"/>
                <a:gridCol w="11430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表達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正常組織風險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臨床驗證程度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 GPC1 之互補性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CDH17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96%（最高）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低－表位在正常腸上皮緊密連接，不易觸及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CHM-2101 Phase 1/2 進行中（NCT06055439）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覆蓋率高，可補 GPC1 陰性細胞；適合 OR-gate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6B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GUCY2C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高（腸道譜系特異）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低－正常表達限於腸腔側（apical）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I 已讀出療效：ORR 26.3%、DL3 40%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療效已驗證，風險最分散的第二臂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6B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CEACAM5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(CEA)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高且廣泛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中高－正常大腸上皮亦表達，有腸道／肺毒性前例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A2B530 邏輯閘 CAR-T（EVEREST-1, NCT05736731）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須搭 AND／NOT-gate 才安全；單獨用風險高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5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條件採用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LGR5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癌幹細胞亞群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中高－正常腸道腺窩幹細胞表達，恐損腸道再生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CNA3103 Phase 1/2a 轉移性 CRC（NCT05759728）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打癌幹細胞，理論上抑制復發與逃脫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5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探索性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TROP2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中－廣泛上皮表達（ADC 已有皮膚／黏膜毒性經驗）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CAR-NK 腹腔＋靜脈給藥（NCT07411599）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ADC 模式最成熟；適合腹膜轉移局部給藥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5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探索性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EpCAM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高（泛上皮）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高－正常上皮廣泛表達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Dual-RevCAR（CEA+EpCAM）AND-gate 前臨床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僅適合作為 AND-gate 的「共輔助訊號」臂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5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僅限邏輯閘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B7-H3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(CD276)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中高（含腫瘤血管／stroma）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尚無讀出數據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可與 GPC1 的 CAF 表達協同打 stroma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5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觀察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HER2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低（約 3–5% 擴增）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中高－心臟／肺毒性前例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CAR-NK tandem 試驗含 HER2 臂（NCT07462650）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可治族群過小，不適合作主要第二臂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843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TAG-72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第一代 CAR-T（C-9701／C-9702）：有低度 CRS、無放射學緩解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歷史數據為陰性，已被產業淡出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843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3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首選：GPC1 × CDH17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以覆蓋率與安全窗取勝，標靶已由他人部分去風險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9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CDH17 在大腸癌樣本的表達率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（CHM-2101 計畫引用資料集）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276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 1/2</a:t>
            </a:r>
            <a:pPr algn="l" indent="0" marL="0">
              <a:buNone/>
            </a:pP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359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CHM-2101 自體 CDH17 CAR-T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胃癌／CRC／中後腸 NET 三隊列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276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2023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/10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59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 FDA 完成 IND 審查放行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（公司新聞稿為 IND，非 NDA）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7556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緊密連接</a:t>
            </a:r>
            <a:pPr algn="l" indent="0" marL="0">
              <a:buNone/>
            </a:pP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4871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正常腸上皮的表位定位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前臨床未見攻擊正常腸細胞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缺點／風險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腫瘤覆蓋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陽性率在所有候選中最高，GPC1 陰性腫瘤亦多為 CDH17 陽性，OR-gate 可大幅擴大可治族群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兩者若高度重疊，雙標所增加的覆蓋率有限，需先以雙標染色量化增益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安全窗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正常腸道上皮中 CDH17 主要位於緊密連接，空間上不易被抗體／CAR 觸及；前臨床未見正常腸上皮毒性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一旦腸道黏膜屏障受損（放化療後、發炎），表位可能暴露而引發腸道毒性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臨床去風險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已有他人進入 Phase 1/2 並完成製程驗證，標靶風險由產業共同承擔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亦代表競爭者先行；單標 CDH17 的空間已被佔據，必須以雙標組合取得差異化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分子設計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腸道譜系限定、膜定位明確，適合 CAR-T tandem 與雙特異抗體兩種形式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ADC 需確認內噬速率；緊密連接定位對 ADC 的攝取可能不利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14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次選：GPC1 × GUCY2C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大腸癌 CAR-T 目前唯一明確的客觀緩解證據（Phase I, n=20）</a:t>
            </a:r>
            <a:endParaRPr lang="en-US" sz="1300" dirty="0"/>
          </a:p>
        </p:txBody>
      </p:sp>
      <p:sp>
        <p:nvSpPr>
          <p:cNvPr id="4" name="st-0"/>
          <p:cNvSpPr/>
          <p:nvPr/>
        </p:nvSpPr>
        <p:spPr>
          <a:xfrm>
            <a:off x="548640" y="1600200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1F9F6"/>
          </a:solidFill>
          <a:ln w="12700">
            <a:solidFill>
              <a:srgbClr val="BFE3D7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37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26.3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4086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整體客觀緩解率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（19 名可評估患者）</a:t>
            </a:r>
            <a:endParaRPr lang="en-US" sz="1000" dirty="0"/>
          </a:p>
        </p:txBody>
      </p:sp>
      <p:sp>
        <p:nvSpPr>
          <p:cNvPr id="7" name="st-1"/>
          <p:cNvSpPr/>
          <p:nvPr/>
        </p:nvSpPr>
        <p:spPr>
          <a:xfrm>
            <a:off x="3355848" y="1600200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1F9F6"/>
          </a:solidFill>
          <a:ln w="12700">
            <a:solidFill>
              <a:srgbClr val="BFE3D7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5304" y="1737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40.0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34086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最高劑量組 DL3 緩解率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緩解者全部落在 DL3／DL4</a:t>
            </a:r>
            <a:endParaRPr lang="en-US" sz="1000" dirty="0"/>
          </a:p>
        </p:txBody>
      </p:sp>
      <p:sp>
        <p:nvSpPr>
          <p:cNvPr id="10" name="st-2"/>
          <p:cNvSpPr/>
          <p:nvPr/>
        </p:nvSpPr>
        <p:spPr>
          <a:xfrm>
            <a:off x="6163056" y="1600200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1F9F6"/>
          </a:solidFill>
          <a:ln w="12700">
            <a:solidFill>
              <a:srgbClr val="BFE3D7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1737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7.0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個月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34086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DL3 組中位無惡化存活期</a:t>
            </a:r>
            <a:endParaRPr lang="en-US" sz="1000" dirty="0"/>
          </a:p>
        </p:txBody>
      </p:sp>
      <p:sp>
        <p:nvSpPr>
          <p:cNvPr id="13" name="st-3"/>
          <p:cNvSpPr/>
          <p:nvPr/>
        </p:nvSpPr>
        <p:spPr>
          <a:xfrm>
            <a:off x="8970264" y="1600200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1F9F6"/>
          </a:solidFill>
          <a:ln w="12700">
            <a:solidFill>
              <a:srgbClr val="BFE3D7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9720" y="1737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5.0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34086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Grade 3 細胞激素釋放症候群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56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與神經毒性（1／20）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46704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缺點／風險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療效證據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大腸癌 CAR-T 領域目前最強的療效讀出，且呈現劑量—反應關係，支持抗原本身可成藥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樣本僅 20 人、單臂早期試驗；緩解深度與持續性尚待確認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安全窗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正常組織表達限於腸道腔側（apical），靜脈輸注的 CAR-T 不易接觸；Grade 3 CRS 僅 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GUCY2C 亦於下視丘表達，長期神經內分泌安全性需監測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組合價值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 GPC1 機制互補（GUCY2C 為腸道譜系抗原、GPC1 為癌胚抗原兼具 stroma 表達）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GUCY2C 單標已有多個團隊推進，雙標的新穎性須以 GPC1 臂與邏輯設計建立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競爭訊號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GCC19CART 等多個計畫顯示標靶可行性與製程成熟度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一項 CDH17／GUCY2C 雙標 CAR-T 試驗（NCT07152210）已撤回，須釐清是否涉及技術障礙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18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第二層候選：CEACAM5、LGR5、TROP2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各有明確的使用前提，不宜作為預設第二臂</a:t>
            </a:r>
            <a:endParaRPr lang="en-US" sz="1300" dirty="0"/>
          </a:p>
        </p:txBody>
      </p:sp>
      <p:sp>
        <p:nvSpPr>
          <p:cNvPr id="4" name="t2-0"/>
          <p:cNvSpPr/>
          <p:nvPr/>
        </p:nvSpPr>
        <p:spPr>
          <a:xfrm>
            <a:off x="548640" y="1572768"/>
            <a:ext cx="3493008" cy="434340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t2h-0"/>
          <p:cNvSpPr/>
          <p:nvPr/>
        </p:nvSpPr>
        <p:spPr>
          <a:xfrm>
            <a:off x="548640" y="1572768"/>
            <a:ext cx="349300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CEACAM5（CEA）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31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使用前提：僅在 AND／NOT-gate 架構下採用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0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926080"/>
            <a:ext cx="3108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CRC 表達高且廣泛，臨床與診斷經驗最豐富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A2B530 以 HLA-A*02 雜合性缺失作 NOT-gate，已進入 EVEREST-1 臨床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Dual-RevCAR 以 CEA+EpCAM 拆分活化與共刺激訊號，HT-29 模式中僅雙配體並用才抑制腫瘤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缺點／風險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553712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正常大腸上皮亦表達，歷史上有腸道與肺毒性前例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單標靶安全性不可接受，必須附加邏輯閘，增加 CMC 與法規複雜度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邏輯閘使可治族群受基因型（如 HLA 缺失）限制</a:t>
            </a:r>
            <a:endParaRPr lang="en-US" sz="950" dirty="0"/>
          </a:p>
        </p:txBody>
      </p:sp>
      <p:sp>
        <p:nvSpPr>
          <p:cNvPr id="12" name="t2-1"/>
          <p:cNvSpPr/>
          <p:nvPr/>
        </p:nvSpPr>
        <p:spPr>
          <a:xfrm>
            <a:off x="4270248" y="1572768"/>
            <a:ext cx="3493008" cy="434340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3" name="t2h-1"/>
          <p:cNvSpPr/>
          <p:nvPr/>
        </p:nvSpPr>
        <p:spPr>
          <a:xfrm>
            <a:off x="4270248" y="1572768"/>
            <a:ext cx="3493008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1416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LGR5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2231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使用前提：作為抗復發的探索性第三臂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71416" y="2670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2926080"/>
            <a:ext cx="3108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標定癌幹細胞亞群，理論上可抑制復發與抗原逃脫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CNA3103 已在轉移性 CRC 進行 Phase 1/2a（2023 年 10 月啟動，預計 2027 年底主要完成）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GPC1 的腫瘤主體表達在空間上互補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缺點／風險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4553712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正常腸道腺窩幹細胞亦表達，可能損及腸道上皮再生能力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陽性細胞比例低，抗原密度不足是 CAR 活化的實際障礙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尚無公開療效讀出可供評估</a:t>
            </a:r>
            <a:endParaRPr lang="en-US" sz="950" dirty="0"/>
          </a:p>
        </p:txBody>
      </p:sp>
      <p:sp>
        <p:nvSpPr>
          <p:cNvPr id="20" name="t2-2"/>
          <p:cNvSpPr/>
          <p:nvPr/>
        </p:nvSpPr>
        <p:spPr>
          <a:xfrm>
            <a:off x="7991856" y="1572768"/>
            <a:ext cx="3493008" cy="434340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21" name="t2h-2"/>
          <p:cNvSpPr/>
          <p:nvPr/>
        </p:nvSpPr>
        <p:spPr>
          <a:xfrm>
            <a:off x="7991856" y="1572768"/>
            <a:ext cx="349300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93024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TROP2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2231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使用前提：優先考慮 ADC 與腹腔局部給藥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93024" y="2670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193024" y="2926080"/>
            <a:ext cx="3108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ADC 模式已有成熟的連接子與酬載經驗，可快速建構 GPC1／TROP2 組合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CAR-NK 以腹腔＋靜脈雙途徑並敲除 TGFBR2，針對 CRC 腹膜轉移（NCT07411599）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內噬特性佳，適合作為 ADC 的遞送臂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193024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缺點／風險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93024" y="4553712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廣泛上皮表達，ADC 經驗顯示皮膚與黏膜毒性需劑量管理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CRC 並非 TROP2 ADC 的主要適應症，療效外推證據薄弱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GPC1 共表達情形未知</a:t>
            </a:r>
            <a:endParaRPr lang="en-US" sz="950" dirty="0"/>
          </a:p>
        </p:txBody>
      </p:sp>
      <p:sp>
        <p:nvSpPr>
          <p:cNvPr id="29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觀察與不建議的候選標靶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列出理由以免後續重複評估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4023360"/>
                <a:gridCol w="365760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定位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不列為優先的理由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何種情況下值得重啟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EpCAM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僅限邏輯閘輔助臂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正常上皮廣泛表達，單獨標定的治療窗過窄；文獻明確指出其在健康細胞同樣表達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若確立 AND-gate 平台，可作為提供共刺激訊號的第二臂（如 Dual-RevCAR 設計）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B7-H3 (CD276)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觀察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大腸癌尚無臨床療效讀出；與 GPC1 共表達關係未知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若 GPC1 的 CAF／stroma 表達被證實為療效關鍵，B7-H3 可組成 stroma 導向組合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MSLN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觀察（限腹膜轉移）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 CRC 主體腫瘤表達有限，適應症過窄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若專案聚焦腹膜轉移並採腹腔給藥，可與 TROP2 一併評估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HER2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僅約 3–5% 擴增，可治族群過小；且有心臟與肺毒性前例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僅在 HER2 擴增篩選族群的精準醫療策略下考慮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TAG-72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第一代 CAR-T 兩項試驗（C-9701／C-9702）出現低度 CRS 但無任何放射學緩解，屬歷史陰性數據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若有新一代高敏感度受體設計並重新證實抗原密度足夠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3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四種雙標靶分子形式的取捨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形式應由共表達數據決定，而非反過來</a:t>
            </a:r>
            <a:endParaRPr lang="en-US" sz="1300" dirty="0"/>
          </a:p>
        </p:txBody>
      </p:sp>
      <p:sp>
        <p:nvSpPr>
          <p:cNvPr id="4" name="form-0"/>
          <p:cNvSpPr/>
          <p:nvPr/>
        </p:nvSpPr>
        <p:spPr>
          <a:xfrm>
            <a:off x="548640" y="1572768"/>
            <a:ext cx="2578608" cy="4315968"/>
          </a:xfrm>
          <a:prstGeom prst="roundRect">
            <a:avLst>
              <a:gd name="adj" fmla="val 2837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OR-gate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Tandem CAR-T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目標：擴大覆蓋率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8833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兩個結合域串聯於單一受體，任一抗原陽性即活化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198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393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最能對抗抗原逃脫與腫瘤異質性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42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劣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6227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安全窗等於較差的那一個抗原；GPC1 的 CAF 表達會被一併攻擊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0657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2852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GPC1 與 CDH17 為互斥表達</a:t>
            </a:r>
            <a:endParaRPr lang="en-US" sz="950" dirty="0"/>
          </a:p>
        </p:txBody>
      </p:sp>
      <p:sp>
        <p:nvSpPr>
          <p:cNvPr id="14" name="form-1"/>
          <p:cNvSpPr/>
          <p:nvPr/>
        </p:nvSpPr>
        <p:spPr>
          <a:xfrm>
            <a:off x="3355848" y="1572768"/>
            <a:ext cx="2578608" cy="4315968"/>
          </a:xfrm>
          <a:prstGeom prst="roundRect">
            <a:avLst>
              <a:gd name="adj" fmla="val 2837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38728" y="171907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AND-gate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分離訊號 CAR-T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37744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目標：擴大安全窗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268833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活化訊號與共刺激訊號分置於兩個受體，須雙抗原同時存在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38728" y="34198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36393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可安全納入 CEA、EpCAM 等正常組織亦表達的抗原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4242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劣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38728" y="446227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在 stroma 單獨表達處不活化；CMC 與法規複雜度最高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50657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38728" y="52852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若兩抗原在同一腫瘤細胞高度共表達</a:t>
            </a:r>
            <a:endParaRPr lang="en-US" sz="950" dirty="0"/>
          </a:p>
        </p:txBody>
      </p:sp>
      <p:sp>
        <p:nvSpPr>
          <p:cNvPr id="24" name="form-2"/>
          <p:cNvSpPr/>
          <p:nvPr/>
        </p:nvSpPr>
        <p:spPr>
          <a:xfrm>
            <a:off x="6163056" y="1572768"/>
            <a:ext cx="2578608" cy="431596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45936" y="171907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雙特異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細胞銜接器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237744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目標：縮短時程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268833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現成型（off-the-shelf）蛋白質藥，無需細胞製程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34198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36393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開發速度與成本最優，已有 GPC1 BiTE 前例（前列腺癌）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4242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劣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446227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半衰期短需持續給藥；GPC1 外泌體可能成為抗原陷阱中和藥物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345936" y="50657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45936" y="52852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作為快速的概念驗證與第二個資產</a:t>
            </a:r>
            <a:endParaRPr lang="en-US" sz="950" dirty="0"/>
          </a:p>
        </p:txBody>
      </p:sp>
      <p:sp>
        <p:nvSpPr>
          <p:cNvPr id="34" name="form-3"/>
          <p:cNvSpPr/>
          <p:nvPr/>
        </p:nvSpPr>
        <p:spPr>
          <a:xfrm>
            <a:off x="8970264" y="1572768"/>
            <a:ext cx="2578608" cy="431596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153144" y="171907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ADC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（單標或雙表位）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153144" y="237744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目標：風險最低路徑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153144" y="268833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GPC1-ADC 已於胰臟癌 PDX 顯示劑量相關抑制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53144" y="34198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6B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153144" y="36393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連接子與酬載技術成熟；可與第二標靶 ADC 組成合併療法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153144" y="4242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劣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153144" y="446227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需足夠內噬速率；CDH17 的緊密連接定位可能不利攝取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153144" y="50657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153144" y="52852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GPC1 抗原密度偏低但內噬良好</a:t>
            </a:r>
            <a:endParaRPr lang="en-US" sz="950" dirty="0"/>
          </a:p>
        </p:txBody>
      </p:sp>
      <p:sp>
        <p:nvSpPr>
          <p:cNvPr id="45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特有的技術風險與對策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此四項為 GPC1 不同於一般細胞表面抗原之處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200400"/>
                <a:gridCol w="24688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機制與依據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對策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驗證方式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表位被醣鏈遮蔽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為硫酸肝素蛋白聚醣，硫酸肝素側鏈可阻擋抗體接近核心蛋白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採膜遠端表位＋剛性 IgG4 hinge＋CD28 跨膜區；此組合在胰臟癌低抗原密度模式中已證實改善活性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以肝素酶處理與未處理細胞比較結合力；表位作圖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可溶性抗原陷阱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大量釋入腫瘤來源外泌體，已被提出作為 CRC 診斷標記，代表血中濃度可觀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選擇對可溶性抗原親和力較低、對膜結合型選擇性高的結合域；必要時改用 ADC 以降低影響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於患者血清存在下測定細胞毒殺活性衰減程度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纖維母細胞（CAF）表達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胰臟癌研究顯示腫瘤旁纖維母細胞亦表達 GPC1，正常胰臟罕見表達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若為療效助力則設計為 OR-gate；若為毒性來源則需 AND-gate 限制於腫瘤細胞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單細胞轉錄體重分析＋GPC1／FAP 雙標染色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抗原密度偏低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成人正常組織低表達是安全優勢，但腫瘤端密度若亦低則不足以活化 CAR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提高受體敏感度（高親和力 VHH、最佳化 hinge／TM）；或改走 ADC／雙特異抗體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以抗原密度梯度細胞株測定活化閾值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3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競爭與智財地景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單標靶空間已被佔據，差異化必須來自組合與邏輯設計</a:t>
            </a:r>
            <a:endParaRPr lang="en-US" sz="1300" dirty="0"/>
          </a:p>
        </p:txBody>
      </p:sp>
      <p:sp>
        <p:nvSpPr>
          <p:cNvPr id="4" name="land-0"/>
          <p:cNvSpPr/>
          <p:nvPr/>
        </p:nvSpPr>
        <p:spPr>
          <a:xfrm>
            <a:off x="548640" y="1572768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landh-0"/>
          <p:cNvSpPr/>
          <p:nvPr/>
        </p:nvSpPr>
        <p:spPr>
          <a:xfrm>
            <a:off x="548640" y="1572768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572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GPC1 資產集中在他癌種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67712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GlyTherix：Miltuximab 為抗 GPC1 單株抗體，首次人體試驗 12 人給藥；後續規劃 89Zr 影像試驗與 24 人 theranostic 研究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Adcendo：2022 年 12 月取得以 Miltuximab 為基礎開發 GPC1 ADC 的選擇權授權，屬前臨床階段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學研前臨床：GPC1-ADC（MMAF）、GPC1 VHH CAR-T、GPC1 BiTE，分別針對胰臟癌、鱗癌、前列腺癌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大腸癌：查無 GPC1 導向臨床試驗 → 此為本案的空白地帶</a:t>
            </a:r>
            <a:endParaRPr lang="en-US" sz="1050" dirty="0"/>
          </a:p>
        </p:txBody>
      </p:sp>
      <p:sp>
        <p:nvSpPr>
          <p:cNvPr id="8" name="land-1"/>
          <p:cNvSpPr/>
          <p:nvPr/>
        </p:nvSpPr>
        <p:spPr>
          <a:xfrm>
            <a:off x="6263640" y="1572768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9" name="landh-1"/>
          <p:cNvSpPr/>
          <p:nvPr/>
        </p:nvSpPr>
        <p:spPr>
          <a:xfrm>
            <a:off x="6263640" y="1572768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1384" y="1572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第二標靶的競爭態勢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2267712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CDH17：CHM-2101 已在 Phase 1/2，單標空間被佔據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GUCY2C：多個計畫推進，已有 Phase I 療效讀出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CEA：A2B530 以邏輯閘切入（EVEREST-1）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LGR5：CNA3103 進行中，預計 2027 年底主要完成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258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雙標已有人嘗試：CAR-NK tandem 試驗設 CEA+GUCY2C、CEA+HER2、GUCY2C+HER2 三臂（約 48 人）；另一項 CDH17／GUCY2C CAR-T 已撤回</a:t>
            </a:r>
            <a:endParaRPr lang="en-US" sz="1050" dirty="0"/>
          </a:p>
        </p:txBody>
      </p:sp>
      <p:sp>
        <p:nvSpPr>
          <p:cNvPr id="12" name="ipnote"/>
          <p:cNvSpPr/>
          <p:nvPr/>
        </p:nvSpPr>
        <p:spPr>
          <a:xfrm>
            <a:off x="548640" y="590702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DF1ED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9808" y="5907024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定位：GPC1 在大腸癌無人佔據，第二標靶則皆有對手先行 → 本案的自由實施空間在「GPC1 臂 ＋ 雙標邏輯設計」，而非任一單標靶。</a:t>
            </a:r>
            <a:endParaRPr lang="en-US" sz="1100" dirty="0"/>
          </a:p>
        </p:txBody>
      </p:sp>
      <p:sp>
        <p:nvSpPr>
          <p:cNvPr id="15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12–18 個月驗證計畫與決策點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共表達數據是分子形式的唯一決定因素，必須排在最前面</a:t>
            </a:r>
            <a:endParaRPr lang="en-US" sz="1300" dirty="0"/>
          </a:p>
        </p:txBody>
      </p:sp>
      <p:sp>
        <p:nvSpPr>
          <p:cNvPr id="4" name="ph-0"/>
          <p:cNvSpPr/>
          <p:nvPr/>
        </p:nvSpPr>
        <p:spPr>
          <a:xfrm>
            <a:off x="548640" y="159105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1F9F6"/>
          </a:solidFill>
          <a:ln w="12700">
            <a:solidFill>
              <a:srgbClr val="BFE3D7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5" name="badge-1"/>
          <p:cNvSpPr/>
          <p:nvPr/>
        </p:nvSpPr>
        <p:spPr>
          <a:xfrm>
            <a:off x="749808" y="179222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0–3 月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75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共表達量化（Go／No-Go）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70992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CRC 組織微陣列 n≥100 做 GPC1 × CDH17／GUCY2C 雙標染色，並建立正常腸道、肺、心、胰組織對照盤；重分析 CRC 單細胞轉錄體以釐清 GPC1 在腫瘤細胞與 CAF 的分布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70992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A843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決策點：共表達率 ≥60% → AND-gate；＜30% → OR-gate</a:t>
            </a:r>
            <a:endParaRPr lang="en-US" sz="950" dirty="0"/>
          </a:p>
        </p:txBody>
      </p:sp>
      <p:sp>
        <p:nvSpPr>
          <p:cNvPr id="11" name="ph-1"/>
          <p:cNvSpPr/>
          <p:nvPr/>
        </p:nvSpPr>
        <p:spPr>
          <a:xfrm>
            <a:off x="548640" y="248716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2" name="badge-2"/>
          <p:cNvSpPr/>
          <p:nvPr/>
        </p:nvSpPr>
        <p:spPr>
          <a:xfrm>
            <a:off x="749808" y="2688336"/>
            <a:ext cx="438912" cy="438912"/>
          </a:xfrm>
          <a:prstGeom prst="ellipse">
            <a:avLst/>
          </a:prstGeom>
          <a:solidFill>
            <a:srgbClr val="7FB3B0"/>
          </a:solidFill>
          <a:ln w="12700">
            <a:solidFill>
              <a:srgbClr val="7FB3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596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3–6 月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結合域取得與表位作圖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26060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建立抗 GPC1 VHH／scFv panel，以肝素酶處理比對確認表位可及性，篩選膜遠端表位；建立親和力梯度以備後續敏感度調校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606040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產出：3–5 個通過醣鏈遮蔽測試的候選結合域</a:t>
            </a:r>
            <a:endParaRPr lang="en-US" sz="950" dirty="0"/>
          </a:p>
        </p:txBody>
      </p:sp>
      <p:sp>
        <p:nvSpPr>
          <p:cNvPr id="18" name="ph-2"/>
          <p:cNvSpPr/>
          <p:nvPr/>
        </p:nvSpPr>
        <p:spPr>
          <a:xfrm>
            <a:off x="548640" y="33832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19" name="badge-3"/>
          <p:cNvSpPr/>
          <p:nvPr/>
        </p:nvSpPr>
        <p:spPr>
          <a:xfrm>
            <a:off x="749808" y="3584448"/>
            <a:ext cx="438912" cy="438912"/>
          </a:xfrm>
          <a:prstGeom prst="ellipse">
            <a:avLst/>
          </a:prstGeom>
          <a:solidFill>
            <a:srgbClr val="7FB3B0"/>
          </a:solidFill>
          <a:ln w="12700">
            <a:solidFill>
              <a:srgbClr val="7FB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6–9 月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767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受體架構比較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350215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並行建構 OR-gate tandem 與 AND-gate 分離訊號 CAR，比較低抗原密度細胞株的活化閾值；於患者血清中測試外泌體抗原陷阱的影響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3502152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決策點：選定一種分子形式進入體內試驗</a:t>
            </a:r>
            <a:endParaRPr lang="en-US" sz="950" dirty="0"/>
          </a:p>
        </p:txBody>
      </p:sp>
      <p:sp>
        <p:nvSpPr>
          <p:cNvPr id="25" name="ph-3"/>
          <p:cNvSpPr/>
          <p:nvPr/>
        </p:nvSpPr>
        <p:spPr>
          <a:xfrm>
            <a:off x="548640" y="42793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26" name="badge-4"/>
          <p:cNvSpPr/>
          <p:nvPr/>
        </p:nvSpPr>
        <p:spPr>
          <a:xfrm>
            <a:off x="749808" y="4480560"/>
            <a:ext cx="438912" cy="438912"/>
          </a:xfrm>
          <a:prstGeom prst="ellipse">
            <a:avLst/>
          </a:prstGeom>
          <a:solidFill>
            <a:srgbClr val="7FB3B0"/>
          </a:solidFill>
          <a:ln w="12700">
            <a:solidFill>
              <a:srgbClr val="7FB3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480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9–15 月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4663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體內療效與交叉反應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439826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CRC 類器官與 PDX 模式評估療效與抗原逃脫；以人類正常組織陣列與適當物種進行交叉反應與毒性評估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4398264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產出：具療效與安全窗的先導候選</a:t>
            </a:r>
            <a:endParaRPr lang="en-US" sz="950" dirty="0"/>
          </a:p>
        </p:txBody>
      </p:sp>
      <p:sp>
        <p:nvSpPr>
          <p:cNvPr id="32" name="ph-4"/>
          <p:cNvSpPr/>
          <p:nvPr/>
        </p:nvSpPr>
        <p:spPr>
          <a:xfrm>
            <a:off x="548640" y="51755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AFA"/>
          </a:solidFill>
          <a:ln w="12700">
            <a:solidFill>
              <a:srgbClr val="D2E8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B2F">
                <a:alpha val="10000"/>
              </a:srgbClr>
            </a:outerShdw>
          </a:effectLst>
        </p:spPr>
      </p:sp>
      <p:sp>
        <p:nvSpPr>
          <p:cNvPr id="33" name="badge-5"/>
          <p:cNvSpPr/>
          <p:nvPr/>
        </p:nvSpPr>
        <p:spPr>
          <a:xfrm>
            <a:off x="749808" y="5376672"/>
            <a:ext cx="438912" cy="438912"/>
          </a:xfrm>
          <a:prstGeom prst="ellipse">
            <a:avLst/>
          </a:prstGeom>
          <a:solidFill>
            <a:srgbClr val="7FB3B0"/>
          </a:solidFill>
          <a:ln w="12700">
            <a:solidFill>
              <a:srgbClr val="7FB3B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5376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98448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15–18 月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298448" y="5559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 準備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703320" y="529437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46A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製程開發、放行規格與 GLP 毒理規劃；同步確認 GPC1 伴同診斷（IHC 判讀標準與陽性閾值）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529437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6B5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產出：IND-enabling 套件與臨床試驗設計</a:t>
            </a:r>
            <a:endParaRPr lang="en-US" sz="950" dirty="0"/>
          </a:p>
        </p:txBody>
      </p:sp>
      <p:sp>
        <p:nvSpPr>
          <p:cNvPr id="40" name="Text 1"/>
          <p:cNvSpPr/>
          <p:nvPr>
            <p:ph idx="102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主要參考文獻與臨床試驗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2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數據引用均可追溯至下列來源；建議於盡職調查時逐項複核最新狀態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本簡報引用之內容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與 CRC 生物學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PLOS ONE 2022, pone.0269094；Comput Math Methods Med 2022, 8209700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TGF-β1／SMAD2 促進生長遷移、高表達與較短存活；50 例 COAD 與 Treg 浸潤相關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外泌體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Oncotarget（PMC5387162）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富集於腫瘤來源外泌體，作為 CRC 檢測標記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CAR-T 設計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Mol Ther Oncolytics（PMC10082787）；Clin Cancer Res（PMC4645274）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膜遠端表位＋IgG4 hinge＋CD28 TM 改善低抗原密度活性；鱗癌抗 GPC1 CAR-T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ADC／抗體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 J Cancer（PMC7189381）；GlyTherix 產品線；Adcendo 授權（2022/12）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GPC1-ADC（MMAF）劑量相關抑制；Miltuximab 首次人體 12 人；ADC 選擇權授權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雙特異抗體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BMC Cancer 2020, s12885-020-07562-1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GPC1 BiTE 重導 T 細胞殺死前列腺癌細胞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CDH17 CAR-T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ASCO 2025 摘要 TPS844；ClinicalTrials.gov NCT06055439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表達約 96%、正常腸上皮緊密連接定位；Phase 1/2 設計與 IND 放行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GUCY2C CAR-T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 Clin Oncol 2026（線上）, PubMed 42241671；ASCO Post 2026/06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n=20、ORR 26.3%、DL3 40%、mPFS 7.0 個月、Grade 3 CRS 5%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CEA 邏輯閘 CAR-T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ClinicalTrials.gov NCT05736731（EVEREST-1）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A2B530 以 HLA 雜合性缺失為 NOT-gate 的 CEA CAR-T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AND-gate 概念驗證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Dual-RevCAR（PMC10758449）；Cancer Discov 2023;13:829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CEA+EpCAM 拆分訊號、HT-29 體內僅雙配體並用有效；邏輯閘與抗原感測調校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LGR5 / TROP2 / HER2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NCT05759728；NCT07411599；NCT07462650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CNA3103 mCRC；TROP2 CAR-NK 腹腔給藥＋TGFBR2 敲除；CAR-NK tandem 三臂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TAG-72 歷史數據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PubMed 28344808（PMC5360066）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C-9701／C-9702 第一代 CAR-T：低度 CRS、無放射學緩解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47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CRC CAR-T 綜述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 Clin Oncol 2025, JCO-24-02081（PMC11895826）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2B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大腸癌 CAR-T 標靶與試驗全景、異質性與微環境障礙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3" hasCustomPrompt="1"/>
          </p:nvPr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PC1 Dual Target">
  <a:themeElements>
    <a:clrScheme name="GPC1 Dual Target">
      <a:dk1>
        <a:srgbClr val="0B2B2F"/>
      </a:dk1>
      <a:lt1>
        <a:srgbClr val="FFFFFF"/>
      </a:lt1>
      <a:dk2>
        <a:srgbClr val="02474F"/>
      </a:dk2>
      <a:lt2>
        <a:srgbClr val="EAF4F4"/>
      </a:lt2>
      <a:accent1>
        <a:srgbClr val="028090"/>
      </a:accent1>
      <a:accent2>
        <a:srgbClr val="00A896"/>
      </a:accent2>
      <a:accent3>
        <a:srgbClr val="02C39A"/>
      </a:accent3>
      <a:accent4>
        <a:srgbClr val="E07A5F"/>
      </a:accent4>
      <a:accent5>
        <a:srgbClr val="5A7D7C"/>
      </a:accent5>
      <a:accent6>
        <a:srgbClr val="F2CC8F"/>
      </a:accent6>
      <a:hlink>
        <a:srgbClr val="028090"/>
      </a:hlink>
      <a:folHlink>
        <a:srgbClr val="5A7D7C"/>
      </a:folHlink>
    </a:clrScheme>
    <a:fontScheme name="GPC1 Dual Tar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GPC1 大腸癌雙標靶開發策略</dc:title>
  <dc:subject>PptxGenJS Presentation</dc:subject>
  <dc:creator>Claude Code</dc:creator>
  <cp:lastModifiedBy>Claude Code</cp:lastModifiedBy>
  <cp:revision>1</cp:revision>
  <dcterms:created xsi:type="dcterms:W3CDTF">2026-10-27T02:34:26Z</dcterms:created>
  <dcterms:modified xsi:type="dcterms:W3CDTF">2026-10-27T02:34:26Z</dcterms:modified>
</cp:coreProperties>
</file>